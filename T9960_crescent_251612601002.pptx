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
  </p:notesMasterIdLst>
  <p:sldIdLst>
    <p:sldId id="262" r:id="rId2"/>
    <p:sldId id="256" r:id="rId3"/>
    <p:sldId id="258" r:id="rId4"/>
    <p:sldId id="259" r:id="rId5"/>
    <p:sldId id="261" r:id="rId6"/>
  </p:sldIdLst>
  <p:sldSz cx="12192000" cy="6858000"/>
  <p:notesSz cx="6858000" cy="9144000"/>
  <p:embeddedFontLst>
    <p:embeddedFont>
      <p:font typeface="Lato" panose="020F0502020204030203" pitchFamily="34" charset="0"/>
      <p:regular r:id="rId8"/>
      <p:bold r:id="rId9"/>
      <p:italic r:id="rId10"/>
      <p:boldItalic r:id="rId11"/>
    </p:embeddedFont>
    <p:embeddedFont>
      <p:font typeface="Poppins SemiBold" panose="00000700000000000000" pitchFamily="2"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729265-1A89-4185-8365-139F308D54BB}">
  <a:tblStyle styleId="{6E729265-1A89-4185-8365-139F308D54BB}"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307" y="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449D6AF-30D6-F1FB-048D-0750971EAD57}"/>
              </a:ext>
            </a:extLst>
          </p:cNvPr>
          <p:cNvSpPr txBox="1"/>
          <p:nvPr/>
        </p:nvSpPr>
        <p:spPr>
          <a:xfrm>
            <a:off x="0" y="1051560"/>
            <a:ext cx="12191695" cy="320040"/>
          </a:xfrm>
          <a:prstGeom prst="rect">
            <a:avLst/>
          </a:prstGeom>
          <a:noFill/>
        </p:spPr>
        <p:txBody>
          <a:bodyPr wrap="square" lIns="0" tIns="0" rIns="0" bIns="0" rtlCol="0" anchor="ctr"/>
          <a:lstStyle/>
          <a:p>
            <a:pPr marL="0" indent="0" algn="ctr">
              <a:buNone/>
            </a:pPr>
            <a:r>
              <a:rPr lang="en-US" sz="1200" b="1" kern="0" spc="100" dirty="0">
                <a:solidFill>
                  <a:srgbClr val="5C6377"/>
                </a:solidFill>
                <a:latin typeface="Times New Roman" panose="02020603050405020304" pitchFamily="18" charset="0"/>
                <a:ea typeface="Calibri" panose="020F0502020204030204" pitchFamily="34" charset="-122"/>
                <a:cs typeface="Times New Roman" panose="02020603050405020304" pitchFamily="18" charset="0"/>
              </a:rPr>
              <a:t>M.TECH (AI-DS)  ·  B. S. ABDUR RAHMAN CRESCENT INSTITUTE OF SCIENCE AND TECHNOLOGY</a:t>
            </a:r>
            <a:endParaRPr lang="en-US" sz="120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F1CF83F1-AB48-9AA5-7119-A37A48A0ABF9}"/>
              </a:ext>
            </a:extLst>
          </p:cNvPr>
          <p:cNvSpPr txBox="1"/>
          <p:nvPr/>
        </p:nvSpPr>
        <p:spPr>
          <a:xfrm>
            <a:off x="154639" y="2199132"/>
            <a:ext cx="12191695" cy="1188720"/>
          </a:xfrm>
          <a:prstGeom prst="rect">
            <a:avLst/>
          </a:prstGeom>
          <a:noFill/>
        </p:spPr>
        <p:txBody>
          <a:bodyPr wrap="square" lIns="0" tIns="0" rIns="0" bIns="0" rtlCol="0" anchor="ctr"/>
          <a:lstStyle/>
          <a:p>
            <a:pPr algn="ctr"/>
            <a:r>
              <a:rPr lang="en-US" sz="2400" dirty="0">
                <a:latin typeface="Times New Roman" panose="02020603050405020304" pitchFamily="18" charset="0"/>
                <a:cs typeface="Times New Roman" panose="02020603050405020304" pitchFamily="18" charset="0"/>
              </a:rPr>
              <a:t>Project1: </a:t>
            </a:r>
            <a:r>
              <a:rPr lang="en-GB" sz="2400" b="1" dirty="0">
                <a:solidFill>
                  <a:srgbClr val="0F172A"/>
                </a:solidFill>
                <a:latin typeface="Times New Roman" panose="02020603050405020304" pitchFamily="18" charset="0"/>
                <a:ea typeface="Poppins"/>
                <a:cs typeface="Times New Roman" panose="02020603050405020304" pitchFamily="18" charset="0"/>
                <a:sym typeface="Poppins"/>
              </a:rPr>
              <a:t>AI Kitchen Waste &amp; Recipe Assistant</a:t>
            </a:r>
            <a:endParaRPr lang="en-GB" sz="2400" dirty="0">
              <a:latin typeface="Times New Roman" panose="02020603050405020304" pitchFamily="18" charset="0"/>
              <a:cs typeface="Times New Roman" panose="02020603050405020304" pitchFamily="18" charset="0"/>
            </a:endParaRPr>
          </a:p>
          <a:p>
            <a:pPr marL="0" indent="0" algn="ctr">
              <a:buNone/>
            </a:pPr>
            <a:endParaRPr lang="en-US" sz="2400" dirty="0">
              <a:latin typeface="Times New Roman" panose="02020603050405020304" pitchFamily="18" charset="0"/>
              <a:cs typeface="Times New Roman" panose="02020603050405020304" pitchFamily="18" charset="0"/>
            </a:endParaRPr>
          </a:p>
          <a:p>
            <a:pPr algn="ctr"/>
            <a:r>
              <a:rPr lang="en-US" sz="2400" dirty="0">
                <a:latin typeface="Times New Roman" panose="02020603050405020304" pitchFamily="18" charset="0"/>
                <a:cs typeface="Times New Roman" panose="02020603050405020304" pitchFamily="18" charset="0"/>
              </a:rPr>
              <a:t>Project2: </a:t>
            </a:r>
            <a:r>
              <a:rPr lang="en-GB" sz="2400" b="1" dirty="0" err="1">
                <a:solidFill>
                  <a:srgbClr val="0F172A"/>
                </a:solidFill>
                <a:latin typeface="Times New Roman" panose="02020603050405020304" pitchFamily="18" charset="0"/>
                <a:ea typeface="Poppins"/>
                <a:cs typeface="Times New Roman" panose="02020603050405020304" pitchFamily="18" charset="0"/>
                <a:sym typeface="Poppins"/>
              </a:rPr>
              <a:t>CaseTag</a:t>
            </a:r>
            <a:r>
              <a:rPr lang="en-GB" sz="2400" b="1" dirty="0">
                <a:solidFill>
                  <a:srgbClr val="0F172A"/>
                </a:solidFill>
                <a:latin typeface="Times New Roman" panose="02020603050405020304" pitchFamily="18" charset="0"/>
                <a:ea typeface="Poppins"/>
                <a:cs typeface="Times New Roman" panose="02020603050405020304" pitchFamily="18" charset="0"/>
                <a:sym typeface="Poppins"/>
              </a:rPr>
              <a:t>: LLM-Based Legal Act &amp; Section Identification</a:t>
            </a:r>
            <a:endParaRPr lang="en-GB" sz="2400" dirty="0">
              <a:latin typeface="Times New Roman" panose="02020603050405020304" pitchFamily="18" charset="0"/>
              <a:cs typeface="Times New Roman" panose="02020603050405020304" pitchFamily="18" charset="0"/>
            </a:endParaRPr>
          </a:p>
          <a:p>
            <a:pPr marL="0" indent="0" algn="ctr">
              <a:buNone/>
            </a:pPr>
            <a:endParaRPr lang="en-US" sz="2400" dirty="0">
              <a:latin typeface="Times New Roman" panose="02020603050405020304" pitchFamily="18" charset="0"/>
              <a:cs typeface="Times New Roman" panose="02020603050405020304" pitchFamily="18" charset="0"/>
            </a:endParaRPr>
          </a:p>
        </p:txBody>
      </p:sp>
      <p:sp>
        <p:nvSpPr>
          <p:cNvPr id="4" name="Text 4">
            <a:extLst>
              <a:ext uri="{FF2B5EF4-FFF2-40B4-BE49-F238E27FC236}">
                <a16:creationId xmlns:a16="http://schemas.microsoft.com/office/drawing/2014/main" id="{DEBFDF9E-6FB9-32FC-F3B4-8490BCB47D29}"/>
              </a:ext>
            </a:extLst>
          </p:cNvPr>
          <p:cNvSpPr txBox="1"/>
          <p:nvPr/>
        </p:nvSpPr>
        <p:spPr>
          <a:xfrm>
            <a:off x="3169768" y="3817620"/>
            <a:ext cx="2377440" cy="420624"/>
          </a:xfrm>
          <a:prstGeom prst="rect">
            <a:avLst/>
          </a:prstGeom>
          <a:noFill/>
        </p:spPr>
        <p:txBody>
          <a:bodyPr wrap="square" lIns="0" tIns="0" rIns="0" bIns="0" rtlCol="0" anchor="ctr"/>
          <a:lstStyle/>
          <a:p>
            <a:pPr marL="0" indent="0" algn="r">
              <a:buNone/>
            </a:pPr>
            <a:r>
              <a:rPr lang="en-US" b="1" dirty="0">
                <a:solidFill>
                  <a:srgbClr val="E8A33D"/>
                </a:solidFill>
                <a:latin typeface="Times New Roman" panose="02020603050405020304" pitchFamily="18" charset="0"/>
                <a:ea typeface="Calibri" panose="020F0502020204030204" pitchFamily="34" charset="-122"/>
                <a:cs typeface="Times New Roman" panose="02020603050405020304" pitchFamily="18" charset="0"/>
              </a:rPr>
              <a:t>NAME</a:t>
            </a:r>
            <a:r>
              <a:rPr lang="en-US" sz="1400" b="1" dirty="0">
                <a:solidFill>
                  <a:srgbClr val="E8A33D"/>
                </a:solidFill>
                <a:latin typeface="Times New Roman" panose="02020603050405020304" pitchFamily="18" charset="0"/>
                <a:ea typeface="Calibri" panose="020F0502020204030204" pitchFamily="34" charset="-122"/>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p:txBody>
      </p:sp>
      <p:sp>
        <p:nvSpPr>
          <p:cNvPr id="5" name="Text 5">
            <a:extLst>
              <a:ext uri="{FF2B5EF4-FFF2-40B4-BE49-F238E27FC236}">
                <a16:creationId xmlns:a16="http://schemas.microsoft.com/office/drawing/2014/main" id="{A84F5435-3550-DC9B-CA24-7EB3C6923608}"/>
              </a:ext>
            </a:extLst>
          </p:cNvPr>
          <p:cNvSpPr txBox="1"/>
          <p:nvPr/>
        </p:nvSpPr>
        <p:spPr>
          <a:xfrm>
            <a:off x="5730088" y="3817620"/>
            <a:ext cx="3291840" cy="420624"/>
          </a:xfrm>
          <a:prstGeom prst="rect">
            <a:avLst/>
          </a:prstGeom>
          <a:noFill/>
        </p:spPr>
        <p:txBody>
          <a:bodyPr wrap="square" lIns="0" tIns="0" rIns="0" bIns="0" rtlCol="0" anchor="ctr"/>
          <a:lstStyle/>
          <a:p>
            <a:pPr marL="0" indent="0" algn="l">
              <a:buNone/>
            </a:pPr>
            <a:r>
              <a:rPr lang="en-US" b="1" dirty="0">
                <a:latin typeface="Times New Roman" panose="02020603050405020304" pitchFamily="18" charset="0"/>
                <a:ea typeface="Calibri" panose="020F0502020204030204" pitchFamily="34" charset="-122"/>
                <a:cs typeface="Times New Roman" panose="02020603050405020304" pitchFamily="18" charset="0"/>
              </a:rPr>
              <a:t>CIBIKSHA V</a:t>
            </a:r>
            <a:endParaRPr lang="en-US" dirty="0">
              <a:latin typeface="Times New Roman" panose="02020603050405020304" pitchFamily="18" charset="0"/>
              <a:cs typeface="Times New Roman" panose="02020603050405020304" pitchFamily="18" charset="0"/>
            </a:endParaRPr>
          </a:p>
        </p:txBody>
      </p:sp>
      <p:sp>
        <p:nvSpPr>
          <p:cNvPr id="6" name="Text 6">
            <a:extLst>
              <a:ext uri="{FF2B5EF4-FFF2-40B4-BE49-F238E27FC236}">
                <a16:creationId xmlns:a16="http://schemas.microsoft.com/office/drawing/2014/main" id="{B1B0585E-BBDE-9BC8-D846-092D5C301E15}"/>
              </a:ext>
            </a:extLst>
          </p:cNvPr>
          <p:cNvSpPr txBox="1"/>
          <p:nvPr/>
        </p:nvSpPr>
        <p:spPr>
          <a:xfrm>
            <a:off x="3169768" y="4238244"/>
            <a:ext cx="2377440" cy="420624"/>
          </a:xfrm>
          <a:prstGeom prst="rect">
            <a:avLst/>
          </a:prstGeom>
          <a:noFill/>
        </p:spPr>
        <p:txBody>
          <a:bodyPr wrap="square" lIns="0" tIns="0" rIns="0" bIns="0" rtlCol="0" anchor="ctr"/>
          <a:lstStyle/>
          <a:p>
            <a:pPr marL="0" indent="0" algn="r">
              <a:buNone/>
            </a:pPr>
            <a:r>
              <a:rPr lang="en-US" b="1" dirty="0">
                <a:solidFill>
                  <a:srgbClr val="E8A33D"/>
                </a:solidFill>
                <a:latin typeface="Times New Roman" panose="02020603050405020304" pitchFamily="18" charset="0"/>
                <a:ea typeface="Calibri" panose="020F0502020204030204" pitchFamily="34" charset="-122"/>
                <a:cs typeface="Times New Roman" panose="02020603050405020304" pitchFamily="18" charset="0"/>
              </a:rPr>
              <a:t>RRN</a:t>
            </a:r>
            <a:r>
              <a:rPr lang="en-US" sz="1400" b="1" dirty="0">
                <a:solidFill>
                  <a:srgbClr val="E8A33D"/>
                </a:solidFill>
                <a:latin typeface="Times New Roman" panose="02020603050405020304" pitchFamily="18" charset="0"/>
                <a:ea typeface="Calibri" panose="020F0502020204030204" pitchFamily="34" charset="-122"/>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p:txBody>
      </p:sp>
      <p:sp>
        <p:nvSpPr>
          <p:cNvPr id="7" name="Text 7">
            <a:extLst>
              <a:ext uri="{FF2B5EF4-FFF2-40B4-BE49-F238E27FC236}">
                <a16:creationId xmlns:a16="http://schemas.microsoft.com/office/drawing/2014/main" id="{747B70F0-484A-5193-4B7C-C621916389FB}"/>
              </a:ext>
            </a:extLst>
          </p:cNvPr>
          <p:cNvSpPr txBox="1"/>
          <p:nvPr/>
        </p:nvSpPr>
        <p:spPr>
          <a:xfrm>
            <a:off x="5730088" y="4242816"/>
            <a:ext cx="3291840" cy="420624"/>
          </a:xfrm>
          <a:prstGeom prst="rect">
            <a:avLst/>
          </a:prstGeom>
          <a:noFill/>
        </p:spPr>
        <p:txBody>
          <a:bodyPr wrap="square" lIns="0" tIns="0" rIns="0" bIns="0" rtlCol="0" anchor="ctr"/>
          <a:lstStyle/>
          <a:p>
            <a:pPr marL="0" indent="0" algn="l">
              <a:buNone/>
            </a:pPr>
            <a:r>
              <a:rPr lang="en-US" b="1" dirty="0">
                <a:latin typeface="Times New Roman" panose="02020603050405020304" pitchFamily="18" charset="0"/>
                <a:ea typeface="Calibri" panose="020F0502020204030204" pitchFamily="34" charset="-122"/>
                <a:cs typeface="Times New Roman" panose="02020603050405020304" pitchFamily="18" charset="0"/>
              </a:rPr>
              <a:t>251612601002</a:t>
            </a:r>
            <a:endParaRPr lang="en-US" dirty="0">
              <a:latin typeface="Times New Roman" panose="02020603050405020304" pitchFamily="18" charset="0"/>
              <a:cs typeface="Times New Roman" panose="02020603050405020304" pitchFamily="18" charset="0"/>
            </a:endParaRPr>
          </a:p>
        </p:txBody>
      </p:sp>
      <p:sp>
        <p:nvSpPr>
          <p:cNvPr id="8" name="Text 8">
            <a:extLst>
              <a:ext uri="{FF2B5EF4-FFF2-40B4-BE49-F238E27FC236}">
                <a16:creationId xmlns:a16="http://schemas.microsoft.com/office/drawing/2014/main" id="{0A114A62-9880-6477-601D-64F2DE3DDCCB}"/>
              </a:ext>
            </a:extLst>
          </p:cNvPr>
          <p:cNvSpPr txBox="1"/>
          <p:nvPr/>
        </p:nvSpPr>
        <p:spPr>
          <a:xfrm>
            <a:off x="3169768" y="4658868"/>
            <a:ext cx="2377440" cy="420624"/>
          </a:xfrm>
          <a:prstGeom prst="rect">
            <a:avLst/>
          </a:prstGeom>
          <a:noFill/>
        </p:spPr>
        <p:txBody>
          <a:bodyPr wrap="square" lIns="0" tIns="0" rIns="0" bIns="0" rtlCol="0" anchor="ctr"/>
          <a:lstStyle/>
          <a:p>
            <a:pPr marL="0" indent="0" algn="r">
              <a:buNone/>
            </a:pPr>
            <a:r>
              <a:rPr lang="en-US" b="1" dirty="0">
                <a:solidFill>
                  <a:srgbClr val="E8A33D"/>
                </a:solidFill>
                <a:latin typeface="Times New Roman" panose="02020603050405020304" pitchFamily="18" charset="0"/>
                <a:ea typeface="Calibri" panose="020F0502020204030204" pitchFamily="34" charset="-122"/>
                <a:cs typeface="Times New Roman" panose="02020603050405020304" pitchFamily="18" charset="0"/>
              </a:rPr>
              <a:t>DEPT :</a:t>
            </a:r>
            <a:endParaRPr lang="en-US" dirty="0">
              <a:latin typeface="Times New Roman" panose="02020603050405020304" pitchFamily="18" charset="0"/>
              <a:cs typeface="Times New Roman" panose="02020603050405020304" pitchFamily="18" charset="0"/>
            </a:endParaRPr>
          </a:p>
        </p:txBody>
      </p:sp>
      <p:sp>
        <p:nvSpPr>
          <p:cNvPr id="9" name="Text 9">
            <a:extLst>
              <a:ext uri="{FF2B5EF4-FFF2-40B4-BE49-F238E27FC236}">
                <a16:creationId xmlns:a16="http://schemas.microsoft.com/office/drawing/2014/main" id="{E5BEEC62-C72E-4038-F846-44912560606C}"/>
              </a:ext>
            </a:extLst>
          </p:cNvPr>
          <p:cNvSpPr txBox="1"/>
          <p:nvPr/>
        </p:nvSpPr>
        <p:spPr>
          <a:xfrm>
            <a:off x="5730088" y="4658868"/>
            <a:ext cx="3291840" cy="420624"/>
          </a:xfrm>
          <a:prstGeom prst="rect">
            <a:avLst/>
          </a:prstGeom>
          <a:noFill/>
        </p:spPr>
        <p:txBody>
          <a:bodyPr wrap="square" lIns="0" tIns="0" rIns="0" bIns="0" rtlCol="0" anchor="ctr"/>
          <a:lstStyle/>
          <a:p>
            <a:pPr marL="0" indent="0" algn="l">
              <a:buNone/>
            </a:pPr>
            <a:r>
              <a:rPr lang="en-US" b="1" dirty="0">
                <a:latin typeface="Times New Roman" panose="02020603050405020304" pitchFamily="18" charset="0"/>
                <a:ea typeface="Calibri" panose="020F0502020204030204" pitchFamily="34" charset="-122"/>
                <a:cs typeface="Times New Roman" panose="02020603050405020304" pitchFamily="18" charset="0"/>
              </a:rPr>
              <a:t>M.TECH (AI-DS)</a:t>
            </a:r>
            <a:endParaRPr lang="en-US" dirty="0">
              <a:latin typeface="Times New Roman" panose="02020603050405020304" pitchFamily="18" charset="0"/>
              <a:cs typeface="Times New Roman" panose="02020603050405020304" pitchFamily="18" charset="0"/>
            </a:endParaRPr>
          </a:p>
        </p:txBody>
      </p:sp>
      <p:sp>
        <p:nvSpPr>
          <p:cNvPr id="10" name="Text 10">
            <a:extLst>
              <a:ext uri="{FF2B5EF4-FFF2-40B4-BE49-F238E27FC236}">
                <a16:creationId xmlns:a16="http://schemas.microsoft.com/office/drawing/2014/main" id="{CC63207F-6F6B-D78D-BB5B-4C91ABAEBE50}"/>
              </a:ext>
            </a:extLst>
          </p:cNvPr>
          <p:cNvSpPr txBox="1"/>
          <p:nvPr/>
        </p:nvSpPr>
        <p:spPr>
          <a:xfrm>
            <a:off x="3169768" y="5079492"/>
            <a:ext cx="2377440" cy="420624"/>
          </a:xfrm>
          <a:prstGeom prst="rect">
            <a:avLst/>
          </a:prstGeom>
          <a:noFill/>
        </p:spPr>
        <p:txBody>
          <a:bodyPr wrap="square" lIns="0" tIns="0" rIns="0" bIns="0" rtlCol="0" anchor="ctr"/>
          <a:lstStyle/>
          <a:p>
            <a:pPr marL="0" indent="0" algn="r">
              <a:buNone/>
            </a:pPr>
            <a:r>
              <a:rPr lang="en-US" b="1" dirty="0">
                <a:solidFill>
                  <a:srgbClr val="E8A33D"/>
                </a:solidFill>
                <a:latin typeface="Times New Roman" panose="02020603050405020304" pitchFamily="18" charset="0"/>
                <a:ea typeface="Calibri" panose="020F0502020204030204" pitchFamily="34" charset="-122"/>
                <a:cs typeface="Times New Roman" panose="02020603050405020304" pitchFamily="18" charset="0"/>
              </a:rPr>
              <a:t>UNIVERSITY </a:t>
            </a:r>
            <a:r>
              <a:rPr lang="en-US" sz="1400" b="1" dirty="0">
                <a:solidFill>
                  <a:srgbClr val="E8A33D"/>
                </a:solidFill>
                <a:latin typeface="Times New Roman" panose="02020603050405020304" pitchFamily="18" charset="0"/>
                <a:ea typeface="Calibri" panose="020F0502020204030204"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11" name="Text 11">
            <a:extLst>
              <a:ext uri="{FF2B5EF4-FFF2-40B4-BE49-F238E27FC236}">
                <a16:creationId xmlns:a16="http://schemas.microsoft.com/office/drawing/2014/main" id="{2A771C69-3303-72E4-1E4B-BC7727D64C28}"/>
              </a:ext>
            </a:extLst>
          </p:cNvPr>
          <p:cNvSpPr txBox="1"/>
          <p:nvPr/>
        </p:nvSpPr>
        <p:spPr>
          <a:xfrm>
            <a:off x="5730088" y="5042916"/>
            <a:ext cx="3291840" cy="420624"/>
          </a:xfrm>
          <a:prstGeom prst="rect">
            <a:avLst/>
          </a:prstGeom>
          <a:noFill/>
        </p:spPr>
        <p:txBody>
          <a:bodyPr wrap="square" lIns="0" tIns="0" rIns="0" bIns="0" rtlCol="0" anchor="ctr"/>
          <a:lstStyle/>
          <a:p>
            <a:pPr marL="0" indent="0" algn="l">
              <a:buNone/>
            </a:pPr>
            <a:r>
              <a:rPr lang="en-US" b="1" dirty="0">
                <a:latin typeface="Times New Roman" panose="02020603050405020304" pitchFamily="18" charset="0"/>
                <a:ea typeface="Calibri" panose="020F0502020204030204" pitchFamily="34" charset="-122"/>
                <a:cs typeface="Times New Roman" panose="02020603050405020304" pitchFamily="18" charset="0"/>
              </a:rPr>
              <a:t>CRESCENT</a:t>
            </a:r>
            <a:endParaRPr lang="en-US" dirty="0">
              <a:latin typeface="Times New Roman" panose="02020603050405020304" pitchFamily="18" charset="0"/>
              <a:cs typeface="Times New Roman" panose="02020603050405020304" pitchFamily="18" charset="0"/>
            </a:endParaRPr>
          </a:p>
        </p:txBody>
      </p:sp>
      <p:sp>
        <p:nvSpPr>
          <p:cNvPr id="12" name="Text 12">
            <a:extLst>
              <a:ext uri="{FF2B5EF4-FFF2-40B4-BE49-F238E27FC236}">
                <a16:creationId xmlns:a16="http://schemas.microsoft.com/office/drawing/2014/main" id="{251CB727-E8F2-6365-8C45-564052DA7C7C}"/>
              </a:ext>
            </a:extLst>
          </p:cNvPr>
          <p:cNvSpPr txBox="1"/>
          <p:nvPr/>
        </p:nvSpPr>
        <p:spPr>
          <a:xfrm>
            <a:off x="3169768" y="5500116"/>
            <a:ext cx="2377440" cy="420624"/>
          </a:xfrm>
          <a:prstGeom prst="rect">
            <a:avLst/>
          </a:prstGeom>
          <a:noFill/>
        </p:spPr>
        <p:txBody>
          <a:bodyPr wrap="square" lIns="0" tIns="0" rIns="0" bIns="0" rtlCol="0" anchor="ctr"/>
          <a:lstStyle/>
          <a:p>
            <a:pPr marL="0" indent="0" algn="r">
              <a:buNone/>
            </a:pPr>
            <a:r>
              <a:rPr lang="en-US" b="1" dirty="0">
                <a:solidFill>
                  <a:srgbClr val="E8A33D"/>
                </a:solidFill>
                <a:latin typeface="Times New Roman" panose="02020603050405020304" pitchFamily="18" charset="0"/>
                <a:ea typeface="Calibri" panose="020F0502020204030204" pitchFamily="34" charset="-122"/>
                <a:cs typeface="Times New Roman" panose="02020603050405020304" pitchFamily="18" charset="0"/>
              </a:rPr>
              <a:t>ID.NO </a:t>
            </a:r>
            <a:r>
              <a:rPr lang="en-US" sz="1400" b="1" dirty="0">
                <a:solidFill>
                  <a:srgbClr val="E8A33D"/>
                </a:solidFill>
                <a:latin typeface="Times New Roman" panose="02020603050405020304" pitchFamily="18" charset="0"/>
                <a:ea typeface="Calibri" panose="020F0502020204030204"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13" name="Text 13">
            <a:extLst>
              <a:ext uri="{FF2B5EF4-FFF2-40B4-BE49-F238E27FC236}">
                <a16:creationId xmlns:a16="http://schemas.microsoft.com/office/drawing/2014/main" id="{22C4A5D0-51A2-2E87-BDEC-00D114179646}"/>
              </a:ext>
            </a:extLst>
          </p:cNvPr>
          <p:cNvSpPr txBox="1"/>
          <p:nvPr/>
        </p:nvSpPr>
        <p:spPr>
          <a:xfrm>
            <a:off x="5730088" y="5500116"/>
            <a:ext cx="3291840" cy="420624"/>
          </a:xfrm>
          <a:prstGeom prst="rect">
            <a:avLst/>
          </a:prstGeom>
          <a:noFill/>
        </p:spPr>
        <p:txBody>
          <a:bodyPr wrap="square" lIns="0" tIns="0" rIns="0" bIns="0" rtlCol="0" anchor="ctr"/>
          <a:lstStyle/>
          <a:p>
            <a:pPr marL="0" indent="0" algn="l">
              <a:buNone/>
            </a:pPr>
            <a:r>
              <a:rPr lang="en-US" b="1" dirty="0">
                <a:latin typeface="Times New Roman" panose="02020603050405020304" pitchFamily="18" charset="0"/>
                <a:ea typeface="Calibri" panose="020F0502020204030204" pitchFamily="34" charset="-122"/>
                <a:cs typeface="Times New Roman" panose="02020603050405020304" pitchFamily="18" charset="0"/>
              </a:rPr>
              <a:t>T9960</a:t>
            </a:r>
            <a:endParaRPr lang="en-US" dirty="0">
              <a:latin typeface="Times New Roman" panose="02020603050405020304" pitchFamily="18" charset="0"/>
              <a:cs typeface="Times New Roman" panose="02020603050405020304" pitchFamily="18" charset="0"/>
            </a:endParaRPr>
          </a:p>
        </p:txBody>
      </p:sp>
      <p:sp>
        <p:nvSpPr>
          <p:cNvPr id="14" name="Text 14">
            <a:extLst>
              <a:ext uri="{FF2B5EF4-FFF2-40B4-BE49-F238E27FC236}">
                <a16:creationId xmlns:a16="http://schemas.microsoft.com/office/drawing/2014/main" id="{CA70E275-76EA-8E83-6B5D-C10347A57CEE}"/>
              </a:ext>
            </a:extLst>
          </p:cNvPr>
          <p:cNvSpPr txBox="1"/>
          <p:nvPr/>
        </p:nvSpPr>
        <p:spPr>
          <a:xfrm>
            <a:off x="548640" y="6473952"/>
            <a:ext cx="7315200" cy="274320"/>
          </a:xfrm>
          <a:prstGeom prst="rect">
            <a:avLst/>
          </a:prstGeom>
          <a:noFill/>
        </p:spPr>
        <p:txBody>
          <a:bodyPr wrap="square" lIns="0" tIns="0" rIns="0" bIns="0" rtlCol="0" anchor="ctr"/>
          <a:lstStyle/>
          <a:p>
            <a:pPr marL="0" indent="0">
              <a:buNone/>
            </a:pPr>
            <a:r>
              <a:rPr lang="en-US" sz="950" dirty="0">
                <a:solidFill>
                  <a:srgbClr val="5C6377"/>
                </a:solidFill>
                <a:latin typeface="Times New Roman" panose="02020603050405020304" pitchFamily="18" charset="0"/>
                <a:ea typeface="Calibri" panose="020F0502020204030204" pitchFamily="34" charset="-122"/>
                <a:cs typeface="Times New Roman" panose="02020603050405020304" pitchFamily="18" charset="0"/>
              </a:rPr>
              <a:t>M.Tech (AI-DS)  ·  Zeroth Review</a:t>
            </a:r>
            <a:endParaRPr lang="en-US" sz="950" dirty="0">
              <a:latin typeface="Times New Roman" panose="02020603050405020304" pitchFamily="18" charset="0"/>
              <a:cs typeface="Times New Roman" panose="02020603050405020304" pitchFamily="18" charset="0"/>
            </a:endParaRPr>
          </a:p>
        </p:txBody>
      </p:sp>
      <p:sp>
        <p:nvSpPr>
          <p:cNvPr id="15" name="Text 15">
            <a:extLst>
              <a:ext uri="{FF2B5EF4-FFF2-40B4-BE49-F238E27FC236}">
                <a16:creationId xmlns:a16="http://schemas.microsoft.com/office/drawing/2014/main" id="{3B507770-0DE1-CDA3-3A0D-7683B72FC003}"/>
              </a:ext>
            </a:extLst>
          </p:cNvPr>
          <p:cNvSpPr txBox="1"/>
          <p:nvPr/>
        </p:nvSpPr>
        <p:spPr>
          <a:xfrm>
            <a:off x="11185855" y="6473952"/>
            <a:ext cx="457200" cy="274320"/>
          </a:xfrm>
          <a:prstGeom prst="rect">
            <a:avLst/>
          </a:prstGeom>
          <a:noFill/>
        </p:spPr>
        <p:txBody>
          <a:bodyPr wrap="square" lIns="0" tIns="0" rIns="0" bIns="0" rtlCol="0" anchor="ctr"/>
          <a:lstStyle/>
          <a:p>
            <a:pPr marL="0" indent="0" algn="r">
              <a:buNone/>
            </a:pPr>
            <a:r>
              <a:rPr lang="en-US" sz="950" dirty="0">
                <a:solidFill>
                  <a:srgbClr val="5C6377"/>
                </a:solidFill>
                <a:latin typeface="Times New Roman" panose="02020603050405020304" pitchFamily="18" charset="0"/>
                <a:ea typeface="Calibri" panose="020F0502020204030204" pitchFamily="34" charset="-122"/>
                <a:cs typeface="Times New Roman" panose="02020603050405020304" pitchFamily="18" charset="0"/>
              </a:rPr>
              <a:t>1</a:t>
            </a:r>
            <a:endParaRPr lang="en-US" sz="9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3341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91440" y="0"/>
            <a:ext cx="12192000" cy="6858000"/>
          </a:xfrm>
          <a:prstGeom prst="rect">
            <a:avLst/>
          </a:prstGeom>
          <a:noFill/>
          <a:ln>
            <a:noFill/>
          </a:ln>
        </p:spPr>
      </p:pic>
      <p:pic>
        <p:nvPicPr>
          <p:cNvPr id="86" name="Google Shape;86;p13" descr="image.png"/>
          <p:cNvPicPr preferRelativeResize="0"/>
          <p:nvPr/>
        </p:nvPicPr>
        <p:blipFill rotWithShape="1">
          <a:blip r:embed="rId4">
            <a:alphaModFix/>
          </a:blip>
          <a:srcRect/>
          <a:stretch/>
        </p:blipFill>
        <p:spPr>
          <a:xfrm>
            <a:off x="322898" y="1786904"/>
            <a:ext cx="5419725" cy="1962150"/>
          </a:xfrm>
          <a:prstGeom prst="rect">
            <a:avLst/>
          </a:prstGeom>
          <a:noFill/>
          <a:ln>
            <a:noFill/>
          </a:ln>
        </p:spPr>
      </p:pic>
      <p:pic>
        <p:nvPicPr>
          <p:cNvPr id="87" name="Google Shape;87;p13" descr="image.png"/>
          <p:cNvPicPr preferRelativeResize="0"/>
          <p:nvPr/>
        </p:nvPicPr>
        <p:blipFill rotWithShape="1">
          <a:blip r:embed="rId5">
            <a:alphaModFix/>
          </a:blip>
          <a:srcRect/>
          <a:stretch/>
        </p:blipFill>
        <p:spPr>
          <a:xfrm>
            <a:off x="6004560" y="1835794"/>
            <a:ext cx="5419725" cy="1962150"/>
          </a:xfrm>
          <a:prstGeom prst="rect">
            <a:avLst/>
          </a:prstGeom>
          <a:noFill/>
          <a:ln>
            <a:noFill/>
          </a:ln>
        </p:spPr>
      </p:pic>
      <p:sp>
        <p:nvSpPr>
          <p:cNvPr id="88" name="Google Shape;88;p13"/>
          <p:cNvSpPr txBox="1"/>
          <p:nvPr/>
        </p:nvSpPr>
        <p:spPr>
          <a:xfrm>
            <a:off x="432435" y="819150"/>
            <a:ext cx="11668125" cy="55399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3000" b="1" i="0" u="none" strike="noStrike" cap="none" dirty="0">
                <a:solidFill>
                  <a:srgbClr val="0F172A"/>
                </a:solidFill>
                <a:latin typeface="Times New Roman" panose="02020603050405020304" pitchFamily="18" charset="0"/>
                <a:ea typeface="Poppins"/>
                <a:cs typeface="Times New Roman" panose="02020603050405020304" pitchFamily="18" charset="0"/>
                <a:sym typeface="Poppins"/>
              </a:rPr>
              <a:t>AI Kitchen Waste &amp; Recipe Assistant</a:t>
            </a:r>
            <a:endParaRPr dirty="0">
              <a:latin typeface="Times New Roman" panose="02020603050405020304" pitchFamily="18" charset="0"/>
              <a:cs typeface="Times New Roman" panose="02020603050405020304" pitchFamily="18" charset="0"/>
            </a:endParaRPr>
          </a:p>
        </p:txBody>
      </p:sp>
      <p:sp>
        <p:nvSpPr>
          <p:cNvPr id="91" name="Google Shape;91;p13"/>
          <p:cNvSpPr txBox="1"/>
          <p:nvPr/>
        </p:nvSpPr>
        <p:spPr>
          <a:xfrm>
            <a:off x="432435" y="1942240"/>
            <a:ext cx="4770596" cy="242374"/>
          </a:xfrm>
          <a:prstGeom prst="rect">
            <a:avLst/>
          </a:prstGeom>
          <a:noFill/>
          <a:ln>
            <a:noFill/>
          </a:ln>
        </p:spPr>
        <p:txBody>
          <a:bodyPr spcFirstLastPara="1" wrap="square" lIns="0" tIns="0" rIns="0" bIns="0" anchor="ctr" anchorCtr="0">
            <a:spAutoFit/>
          </a:bodyPr>
          <a:lstStyle/>
          <a:p>
            <a:pPr marL="0" marR="0" lvl="0" indent="0" algn="just" rtl="0">
              <a:spcBef>
                <a:spcPts val="0"/>
              </a:spcBef>
              <a:spcAft>
                <a:spcPts val="0"/>
              </a:spcAft>
              <a:buNone/>
            </a:pPr>
            <a:r>
              <a:rPr lang="en-US" sz="1575" b="0" i="0" u="none" strike="noStrike" cap="none" dirty="0">
                <a:solidFill>
                  <a:srgbClr val="0F172A"/>
                </a:solidFill>
                <a:latin typeface="Times New Roman" panose="02020603050405020304" pitchFamily="18" charset="0"/>
                <a:ea typeface="Poppins SemiBold"/>
                <a:cs typeface="Times New Roman" panose="02020603050405020304" pitchFamily="18" charset="0"/>
                <a:sym typeface="Poppins SemiBold"/>
              </a:rPr>
              <a:t>Problem Statement</a:t>
            </a:r>
            <a:endParaRPr dirty="0">
              <a:latin typeface="Times New Roman" panose="02020603050405020304" pitchFamily="18" charset="0"/>
              <a:cs typeface="Times New Roman" panose="02020603050405020304" pitchFamily="18" charset="0"/>
            </a:endParaRPr>
          </a:p>
        </p:txBody>
      </p:sp>
      <p:sp>
        <p:nvSpPr>
          <p:cNvPr id="92" name="Google Shape;92;p13"/>
          <p:cNvSpPr txBox="1"/>
          <p:nvPr/>
        </p:nvSpPr>
        <p:spPr>
          <a:xfrm>
            <a:off x="432435" y="2244737"/>
            <a:ext cx="4829175" cy="1107996"/>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125" b="0" i="0" u="none" strike="noStrike" cap="none" dirty="0">
                <a:solidFill>
                  <a:srgbClr val="475569"/>
                </a:solidFill>
                <a:latin typeface="Times New Roman" panose="02020603050405020304" pitchFamily="18" charset="0"/>
                <a:ea typeface="Lato"/>
                <a:cs typeface="Times New Roman" panose="02020603050405020304" pitchFamily="18" charset="0"/>
                <a:sym typeface="Lato"/>
              </a:rPr>
              <a:t>A significant amount of food is wasted in households because available ingredients are forgotten, food spoils before use, or users lack leftover recipe knowledge. Current recipe applications focus primarily on user taste preferences rather than actively tackling kitchen food waste reduction.</a:t>
            </a:r>
            <a:endParaRPr dirty="0">
              <a:latin typeface="Times New Roman" panose="02020603050405020304" pitchFamily="18" charset="0"/>
              <a:cs typeface="Times New Roman" panose="02020603050405020304" pitchFamily="18" charset="0"/>
            </a:endParaRPr>
          </a:p>
        </p:txBody>
      </p:sp>
      <p:sp>
        <p:nvSpPr>
          <p:cNvPr id="93" name="Google Shape;93;p13"/>
          <p:cNvSpPr txBox="1"/>
          <p:nvPr/>
        </p:nvSpPr>
        <p:spPr>
          <a:xfrm>
            <a:off x="6156961" y="2013677"/>
            <a:ext cx="4770596" cy="242374"/>
          </a:xfrm>
          <a:prstGeom prst="rect">
            <a:avLst/>
          </a:prstGeom>
          <a:noFill/>
          <a:ln>
            <a:noFill/>
          </a:ln>
        </p:spPr>
        <p:txBody>
          <a:bodyPr spcFirstLastPara="1" wrap="square" lIns="0" tIns="0" rIns="0" bIns="0" anchor="ctr" anchorCtr="0">
            <a:spAutoFit/>
          </a:bodyPr>
          <a:lstStyle/>
          <a:p>
            <a:pPr marL="0" marR="0" lvl="0" indent="0" algn="just" rtl="0">
              <a:spcBef>
                <a:spcPts val="0"/>
              </a:spcBef>
              <a:spcAft>
                <a:spcPts val="0"/>
              </a:spcAft>
              <a:buNone/>
            </a:pPr>
            <a:r>
              <a:rPr lang="en-US" sz="1575" b="0" i="0" u="none" strike="noStrike" cap="none" dirty="0">
                <a:solidFill>
                  <a:srgbClr val="0F172A"/>
                </a:solidFill>
                <a:latin typeface="Times New Roman" panose="02020603050405020304" pitchFamily="18" charset="0"/>
                <a:ea typeface="Poppins SemiBold"/>
                <a:cs typeface="Times New Roman" panose="02020603050405020304" pitchFamily="18" charset="0"/>
                <a:sym typeface="Poppins SemiBold"/>
              </a:rPr>
              <a:t>Core Objectives</a:t>
            </a:r>
            <a:endParaRPr dirty="0">
              <a:latin typeface="Times New Roman" panose="02020603050405020304" pitchFamily="18" charset="0"/>
              <a:cs typeface="Times New Roman" panose="02020603050405020304" pitchFamily="18" charset="0"/>
            </a:endParaRPr>
          </a:p>
        </p:txBody>
      </p:sp>
      <p:sp>
        <p:nvSpPr>
          <p:cNvPr id="94" name="Google Shape;94;p13"/>
          <p:cNvSpPr txBox="1"/>
          <p:nvPr/>
        </p:nvSpPr>
        <p:spPr>
          <a:xfrm>
            <a:off x="6098382" y="2359669"/>
            <a:ext cx="4829175" cy="1107996"/>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125" b="0" i="0" u="none" strike="noStrike" cap="none" dirty="0">
                <a:solidFill>
                  <a:srgbClr val="475569"/>
                </a:solidFill>
                <a:latin typeface="Times New Roman" panose="02020603050405020304" pitchFamily="18" charset="0"/>
                <a:ea typeface="Lato"/>
                <a:cs typeface="Times New Roman" panose="02020603050405020304" pitchFamily="18" charset="0"/>
                <a:sym typeface="Lato"/>
              </a:rPr>
              <a:t>Develop an intelligent AI system to identify ingredients from text or images, track expiry status, prioritize items needing immediate use, and generate personalized LLM recipes with ingredient substitution options to minimize household food waste.</a:t>
            </a:r>
            <a:endParaRPr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62C2E750-4ED9-4384-F293-9C1BAC5C5F41}"/>
              </a:ext>
            </a:extLst>
          </p:cNvPr>
          <p:cNvGraphicFramePr>
            <a:graphicFrameLocks noGrp="1"/>
          </p:cNvGraphicFramePr>
          <p:nvPr>
            <p:extLst>
              <p:ext uri="{D42A27DB-BD31-4B8C-83A1-F6EECF244321}">
                <p14:modId xmlns:p14="http://schemas.microsoft.com/office/powerpoint/2010/main" val="76532374"/>
              </p:ext>
            </p:extLst>
          </p:nvPr>
        </p:nvGraphicFramePr>
        <p:xfrm>
          <a:off x="6634129" y="4501042"/>
          <a:ext cx="4902839" cy="1699832"/>
        </p:xfrm>
        <a:graphic>
          <a:graphicData uri="http://schemas.openxmlformats.org/drawingml/2006/table">
            <a:tbl>
              <a:tblPr firstRow="1" bandRow="1">
                <a:noFill/>
                <a:tableStyleId>{6E729265-1A89-4185-8365-139F308D54BB}</a:tableStyleId>
              </a:tblPr>
              <a:tblGrid>
                <a:gridCol w="1137990">
                  <a:extLst>
                    <a:ext uri="{9D8B030D-6E8A-4147-A177-3AD203B41FA5}">
                      <a16:colId xmlns:a16="http://schemas.microsoft.com/office/drawing/2014/main" val="684747566"/>
                    </a:ext>
                  </a:extLst>
                </a:gridCol>
                <a:gridCol w="1282368">
                  <a:extLst>
                    <a:ext uri="{9D8B030D-6E8A-4147-A177-3AD203B41FA5}">
                      <a16:colId xmlns:a16="http://schemas.microsoft.com/office/drawing/2014/main" val="1295226621"/>
                    </a:ext>
                  </a:extLst>
                </a:gridCol>
                <a:gridCol w="2482481">
                  <a:extLst>
                    <a:ext uri="{9D8B030D-6E8A-4147-A177-3AD203B41FA5}">
                      <a16:colId xmlns:a16="http://schemas.microsoft.com/office/drawing/2014/main" val="2951182905"/>
                    </a:ext>
                  </a:extLst>
                </a:gridCol>
              </a:tblGrid>
              <a:tr h="0">
                <a:tc>
                  <a:txBody>
                    <a:bodyPr/>
                    <a:lstStyle/>
                    <a:p>
                      <a:pPr marL="0" marR="0" lvl="0" indent="0" algn="l" rtl="0">
                        <a:spcBef>
                          <a:spcPts val="0"/>
                        </a:spcBef>
                        <a:spcAft>
                          <a:spcPts val="0"/>
                        </a:spcAft>
                        <a:buNone/>
                      </a:pPr>
                      <a:r>
                        <a:rPr lang="en-US" sz="1087" b="0" i="0" u="none" strike="noStrike" cap="none" dirty="0">
                          <a:solidFill>
                            <a:srgbClr val="FFFFFF"/>
                          </a:solidFill>
                          <a:latin typeface="Poppins SemiBold"/>
                          <a:ea typeface="Poppins SemiBold"/>
                          <a:cs typeface="Poppins SemiBold"/>
                          <a:sym typeface="Poppins SemiBold"/>
                        </a:rPr>
                        <a:t>Component</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087" b="0" i="0" u="none" strike="noStrike" cap="none">
                          <a:solidFill>
                            <a:srgbClr val="FFFFFF"/>
                          </a:solidFill>
                          <a:latin typeface="Poppins SemiBold"/>
                          <a:ea typeface="Poppins SemiBold"/>
                          <a:cs typeface="Poppins SemiBold"/>
                          <a:sym typeface="Poppins SemiBold"/>
                        </a:rPr>
                        <a:t>Technology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087" b="0" i="0" u="none" strike="noStrike" cap="none">
                          <a:solidFill>
                            <a:srgbClr val="FFFFFF"/>
                          </a:solidFill>
                          <a:latin typeface="Poppins SemiBold"/>
                          <a:ea typeface="Poppins SemiBold"/>
                          <a:cs typeface="Poppins SemiBold"/>
                          <a:sym typeface="Poppins SemiBold"/>
                        </a:rPr>
                        <a:t>Purpose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extLst>
                  <a:ext uri="{0D108BD9-81ED-4DB2-BD59-A6C34878D82A}">
                    <a16:rowId xmlns:a16="http://schemas.microsoft.com/office/drawing/2014/main" val="3776494597"/>
                  </a:ext>
                </a:extLst>
              </a:tr>
              <a:tr h="0">
                <a:tc>
                  <a:txBody>
                    <a:bodyPr/>
                    <a:lstStyle/>
                    <a:p>
                      <a:pPr marL="0" marR="0" lvl="0" indent="0" algn="l" rtl="0">
                        <a:spcBef>
                          <a:spcPts val="0"/>
                        </a:spcBef>
                        <a:spcAft>
                          <a:spcPts val="0"/>
                        </a:spcAft>
                        <a:buNone/>
                      </a:pPr>
                      <a:r>
                        <a:rPr lang="en-US" sz="1050" b="1" i="0" u="none" strike="noStrike" cap="none" dirty="0">
                          <a:solidFill>
                            <a:srgbClr val="334155"/>
                          </a:solidFill>
                          <a:latin typeface="Lato"/>
                          <a:ea typeface="Lato"/>
                          <a:cs typeface="Lato"/>
                          <a:sym typeface="Lato"/>
                        </a:rPr>
                        <a:t>LLM</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334155"/>
                          </a:solidFill>
                          <a:latin typeface="Lato"/>
                          <a:ea typeface="Lato"/>
                          <a:cs typeface="Lato"/>
                          <a:sym typeface="Lato"/>
                        </a:rPr>
                        <a:t>Google Gemini 2.5 Flash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334155"/>
                          </a:solidFill>
                          <a:latin typeface="Lato"/>
                          <a:ea typeface="Lato"/>
                          <a:cs typeface="Lato"/>
                          <a:sym typeface="Lato"/>
                        </a:rPr>
                        <a:t>Generates personalized recipes &amp; provides conversational assistance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3722353758"/>
                  </a:ext>
                </a:extLst>
              </a:tr>
              <a:tr h="0">
                <a:tc>
                  <a:txBody>
                    <a:bodyPr/>
                    <a:lstStyle/>
                    <a:p>
                      <a:pPr marL="0" marR="0" lvl="0" indent="0" algn="l" rtl="0">
                        <a:spcBef>
                          <a:spcPts val="0"/>
                        </a:spcBef>
                        <a:spcAft>
                          <a:spcPts val="0"/>
                        </a:spcAft>
                        <a:buNone/>
                      </a:pPr>
                      <a:r>
                        <a:rPr lang="en-US" sz="1050" b="1" i="0" u="none" strike="noStrike" cap="none">
                          <a:solidFill>
                            <a:srgbClr val="334155"/>
                          </a:solidFill>
                          <a:latin typeface="Lato"/>
                          <a:ea typeface="Lato"/>
                          <a:cs typeface="Lato"/>
                          <a:sym typeface="Lato"/>
                        </a:rPr>
                        <a:t>RAG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dirty="0" err="1">
                          <a:solidFill>
                            <a:srgbClr val="334155"/>
                          </a:solidFill>
                          <a:latin typeface="Lato"/>
                          <a:ea typeface="Lato"/>
                          <a:cs typeface="Lato"/>
                          <a:sym typeface="Lato"/>
                        </a:rPr>
                        <a:t>LangChain</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dirty="0">
                          <a:solidFill>
                            <a:srgbClr val="334155"/>
                          </a:solidFill>
                          <a:latin typeface="Lato"/>
                          <a:ea typeface="Lato"/>
                          <a:cs typeface="Lato"/>
                          <a:sym typeface="Lato"/>
                        </a:rPr>
                        <a:t>Retrieves relevant recipes from knowledge base</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857361069"/>
                  </a:ext>
                </a:extLst>
              </a:tr>
              <a:tr h="0">
                <a:tc>
                  <a:txBody>
                    <a:bodyPr/>
                    <a:lstStyle/>
                    <a:p>
                      <a:pPr marL="0" marR="0" lvl="0" indent="0" algn="l" rtl="0">
                        <a:spcBef>
                          <a:spcPts val="0"/>
                        </a:spcBef>
                        <a:spcAft>
                          <a:spcPts val="0"/>
                        </a:spcAft>
                        <a:buNone/>
                      </a:pPr>
                      <a:r>
                        <a:rPr lang="en-US" sz="1050" b="1" i="0" u="none" strike="noStrike" cap="none">
                          <a:solidFill>
                            <a:srgbClr val="334155"/>
                          </a:solidFill>
                          <a:latin typeface="Lato"/>
                          <a:ea typeface="Lato"/>
                          <a:cs typeface="Lato"/>
                          <a:sym typeface="Lato"/>
                        </a:rPr>
                        <a:t>Embedding Model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334155"/>
                          </a:solidFill>
                          <a:latin typeface="Lato"/>
                          <a:ea typeface="Lato"/>
                          <a:cs typeface="Lato"/>
                          <a:sym typeface="Lato"/>
                        </a:rPr>
                        <a:t>Sentence Transformers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dirty="0">
                          <a:solidFill>
                            <a:srgbClr val="334155"/>
                          </a:solidFill>
                          <a:latin typeface="Lato"/>
                          <a:ea typeface="Lato"/>
                          <a:cs typeface="Lato"/>
                          <a:sym typeface="Lato"/>
                        </a:rPr>
                        <a:t>Converts recipes &amp; ingredients into vector representations</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171217580"/>
                  </a:ext>
                </a:extLst>
              </a:tr>
              <a:tr h="0">
                <a:tc>
                  <a:txBody>
                    <a:bodyPr/>
                    <a:lstStyle/>
                    <a:p>
                      <a:pPr marL="0" marR="0" lvl="0" indent="0" algn="l" rtl="0">
                        <a:spcBef>
                          <a:spcPts val="0"/>
                        </a:spcBef>
                        <a:spcAft>
                          <a:spcPts val="0"/>
                        </a:spcAft>
                        <a:buNone/>
                      </a:pPr>
                      <a:r>
                        <a:rPr lang="en-US" sz="1050" b="1" i="0" u="none" strike="noStrike" cap="none">
                          <a:solidFill>
                            <a:srgbClr val="334155"/>
                          </a:solidFill>
                          <a:latin typeface="Lato"/>
                          <a:ea typeface="Lato"/>
                          <a:cs typeface="Lato"/>
                          <a:sym typeface="Lato"/>
                        </a:rPr>
                        <a:t>Vector DB</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334155"/>
                          </a:solidFill>
                          <a:latin typeface="Lato"/>
                          <a:ea typeface="Lato"/>
                          <a:cs typeface="Lato"/>
                          <a:sym typeface="Lato"/>
                        </a:rPr>
                        <a:t>FAISS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dirty="0">
                          <a:solidFill>
                            <a:srgbClr val="334155"/>
                          </a:solidFill>
                          <a:latin typeface="Lato"/>
                          <a:ea typeface="Lato"/>
                          <a:cs typeface="Lato"/>
                          <a:sym typeface="Lato"/>
                        </a:rPr>
                        <a:t>Performs fast similarity search for relevant recipe lookup</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3378007467"/>
                  </a:ext>
                </a:extLst>
              </a:tr>
            </a:tbl>
          </a:graphicData>
        </a:graphic>
      </p:graphicFrame>
      <p:sp>
        <p:nvSpPr>
          <p:cNvPr id="5" name="TextBox 4">
            <a:extLst>
              <a:ext uri="{FF2B5EF4-FFF2-40B4-BE49-F238E27FC236}">
                <a16:creationId xmlns:a16="http://schemas.microsoft.com/office/drawing/2014/main" id="{8F17D05D-1E94-6869-8024-CC5614120CDC}"/>
              </a:ext>
            </a:extLst>
          </p:cNvPr>
          <p:cNvSpPr txBox="1"/>
          <p:nvPr/>
        </p:nvSpPr>
        <p:spPr>
          <a:xfrm>
            <a:off x="360605" y="4392351"/>
            <a:ext cx="5496268" cy="1386470"/>
          </a:xfrm>
          <a:prstGeom prst="rect">
            <a:avLst/>
          </a:prstGeom>
          <a:noFill/>
        </p:spPr>
        <p:txBody>
          <a:bodyPr wrap="square">
            <a:spAutoFit/>
          </a:bodyPr>
          <a:lstStyle/>
          <a:p>
            <a:pPr lvl="0" algn="just">
              <a:lnSpc>
                <a:spcPct val="154933"/>
              </a:lnSpc>
            </a:pPr>
            <a:r>
              <a:rPr lang="en-GB" dirty="0"/>
              <a:t>This dataset contains a collection of food recipes along with their corresponding food images, ingredient lists, and cooking instructions. It allows the system to identify recipes that can be prepared using the ingredients available to the user.</a:t>
            </a:r>
            <a:endParaRPr lang="en-GB"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E0DA018-4D38-F15E-D78D-84CAD0BE5437}"/>
              </a:ext>
            </a:extLst>
          </p:cNvPr>
          <p:cNvSpPr txBox="1"/>
          <p:nvPr/>
        </p:nvSpPr>
        <p:spPr>
          <a:xfrm>
            <a:off x="370918" y="4183523"/>
            <a:ext cx="6169842" cy="307777"/>
          </a:xfrm>
          <a:prstGeom prst="rect">
            <a:avLst/>
          </a:prstGeom>
          <a:noFill/>
        </p:spPr>
        <p:txBody>
          <a:bodyPr wrap="square">
            <a:spAutoFit/>
          </a:bodyPr>
          <a:lstStyle/>
          <a:p>
            <a:pPr lvl="0" algn="just"/>
            <a:r>
              <a:rPr lang="en-IN" b="1" dirty="0">
                <a:latin typeface="Times New Roman" panose="02020603050405020304" pitchFamily="18" charset="0"/>
                <a:cs typeface="Times New Roman" panose="02020603050405020304" pitchFamily="18" charset="0"/>
              </a:rPr>
              <a:t>Food Ingredients &amp; Recipe Dataset</a:t>
            </a:r>
            <a:endParaRPr lang="en-US"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EA8A6A89-DC17-EF62-3395-0150EA5A53B7}"/>
              </a:ext>
            </a:extLst>
          </p:cNvPr>
          <p:cNvSpPr txBox="1"/>
          <p:nvPr/>
        </p:nvSpPr>
        <p:spPr>
          <a:xfrm>
            <a:off x="5950241" y="3797944"/>
            <a:ext cx="4752009" cy="821763"/>
          </a:xfrm>
          <a:prstGeom prst="rect">
            <a:avLst/>
          </a:prstGeom>
          <a:noFill/>
        </p:spPr>
        <p:txBody>
          <a:bodyPr wrap="square" rtlCol="0">
            <a:spAutoFit/>
          </a:bodyPr>
          <a:lstStyle/>
          <a:p>
            <a:pPr algn="just"/>
            <a:endParaRPr lang="en-GB" sz="1580" b="1" dirty="0">
              <a:latin typeface="Times New Roman" panose="02020603050405020304" pitchFamily="18" charset="0"/>
              <a:cs typeface="Times New Roman" panose="02020603050405020304" pitchFamily="18" charset="0"/>
            </a:endParaRPr>
          </a:p>
          <a:p>
            <a:pPr algn="just"/>
            <a:r>
              <a:rPr lang="en-GB" sz="1580" b="1" dirty="0">
                <a:latin typeface="Times New Roman" panose="02020603050405020304" pitchFamily="18" charset="0"/>
                <a:cs typeface="Times New Roman" panose="02020603050405020304" pitchFamily="18" charset="0"/>
              </a:rPr>
              <a:t>Technical Stack</a:t>
            </a:r>
          </a:p>
          <a:p>
            <a:pPr algn="just"/>
            <a:endParaRPr lang="en-IN" sz="158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915E35E0-F3E8-2651-7830-C2C932911350}"/>
              </a:ext>
            </a:extLst>
          </p:cNvPr>
          <p:cNvSpPr txBox="1"/>
          <p:nvPr/>
        </p:nvSpPr>
        <p:spPr>
          <a:xfrm>
            <a:off x="49963" y="3797944"/>
            <a:ext cx="1404594" cy="307777"/>
          </a:xfrm>
          <a:prstGeom prst="rect">
            <a:avLst/>
          </a:prstGeom>
          <a:noFill/>
        </p:spPr>
        <p:txBody>
          <a:bodyPr wrap="square" rtlCol="0">
            <a:spAutoFit/>
          </a:bodyPr>
          <a:lstStyle/>
          <a:p>
            <a:pPr algn="just"/>
            <a:r>
              <a:rPr lang="en-GB" b="1" dirty="0"/>
              <a:t>Datasets</a:t>
            </a:r>
            <a:endParaRPr lang="en-IN"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6"/>
        <p:cNvGrpSpPr/>
        <p:nvPr/>
      </p:nvGrpSpPr>
      <p:grpSpPr>
        <a:xfrm>
          <a:off x="0" y="0"/>
          <a:ext cx="0" cy="0"/>
          <a:chOff x="0" y="0"/>
          <a:chExt cx="0" cy="0"/>
        </a:xfrm>
      </p:grpSpPr>
      <p:pic>
        <p:nvPicPr>
          <p:cNvPr id="127" name="Google Shape;127;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8" name="Google Shape;128;p15" descr="image.png"/>
          <p:cNvPicPr preferRelativeResize="0"/>
          <p:nvPr/>
        </p:nvPicPr>
        <p:blipFill rotWithShape="1">
          <a:blip r:embed="rId4">
            <a:alphaModFix/>
          </a:blip>
          <a:srcRect/>
          <a:stretch/>
        </p:blipFill>
        <p:spPr>
          <a:xfrm>
            <a:off x="523875" y="2305645"/>
            <a:ext cx="5438775" cy="912911"/>
          </a:xfrm>
          <a:prstGeom prst="rect">
            <a:avLst/>
          </a:prstGeom>
          <a:noFill/>
          <a:ln>
            <a:noFill/>
          </a:ln>
        </p:spPr>
      </p:pic>
      <p:pic>
        <p:nvPicPr>
          <p:cNvPr id="129" name="Google Shape;129;p15" descr="image.png"/>
          <p:cNvPicPr preferRelativeResize="0"/>
          <p:nvPr/>
        </p:nvPicPr>
        <p:blipFill rotWithShape="1">
          <a:blip r:embed="rId5">
            <a:alphaModFix/>
          </a:blip>
          <a:srcRect/>
          <a:stretch/>
        </p:blipFill>
        <p:spPr>
          <a:xfrm>
            <a:off x="523875" y="3332857"/>
            <a:ext cx="5438775" cy="1092398"/>
          </a:xfrm>
          <a:prstGeom prst="rect">
            <a:avLst/>
          </a:prstGeom>
          <a:noFill/>
          <a:ln>
            <a:noFill/>
          </a:ln>
        </p:spPr>
      </p:pic>
      <p:pic>
        <p:nvPicPr>
          <p:cNvPr id="130" name="Google Shape;130;p15" descr="image.png"/>
          <p:cNvPicPr preferRelativeResize="0"/>
          <p:nvPr/>
        </p:nvPicPr>
        <p:blipFill rotWithShape="1">
          <a:blip r:embed="rId6">
            <a:alphaModFix/>
          </a:blip>
          <a:srcRect/>
          <a:stretch/>
        </p:blipFill>
        <p:spPr>
          <a:xfrm>
            <a:off x="523875" y="4539555"/>
            <a:ext cx="5438775" cy="912911"/>
          </a:xfrm>
          <a:prstGeom prst="rect">
            <a:avLst/>
          </a:prstGeom>
          <a:noFill/>
          <a:ln>
            <a:noFill/>
          </a:ln>
        </p:spPr>
      </p:pic>
      <p:pic>
        <p:nvPicPr>
          <p:cNvPr id="131" name="Google Shape;131;p15" descr="image.png"/>
          <p:cNvPicPr preferRelativeResize="0"/>
          <p:nvPr/>
        </p:nvPicPr>
        <p:blipFill rotWithShape="1">
          <a:blip r:embed="rId7">
            <a:alphaModFix/>
          </a:blip>
          <a:srcRect/>
          <a:stretch/>
        </p:blipFill>
        <p:spPr>
          <a:xfrm>
            <a:off x="6229350" y="2305645"/>
            <a:ext cx="5438775" cy="3894534"/>
          </a:xfrm>
          <a:prstGeom prst="rect">
            <a:avLst/>
          </a:prstGeom>
          <a:noFill/>
          <a:ln>
            <a:noFill/>
          </a:ln>
        </p:spPr>
      </p:pic>
      <p:pic>
        <p:nvPicPr>
          <p:cNvPr id="132" name="Google Shape;132;p15" descr="image.png"/>
          <p:cNvPicPr preferRelativeResize="0"/>
          <p:nvPr/>
        </p:nvPicPr>
        <p:blipFill rotWithShape="1">
          <a:blip r:embed="rId8">
            <a:alphaModFix/>
          </a:blip>
          <a:srcRect/>
          <a:stretch/>
        </p:blipFill>
        <p:spPr>
          <a:xfrm>
            <a:off x="6448425" y="3737967"/>
            <a:ext cx="5000625" cy="1138237"/>
          </a:xfrm>
          <a:prstGeom prst="rect">
            <a:avLst/>
          </a:prstGeom>
          <a:noFill/>
          <a:ln>
            <a:noFill/>
          </a:ln>
        </p:spPr>
      </p:pic>
      <p:sp>
        <p:nvSpPr>
          <p:cNvPr id="133" name="Google Shape;133;p15"/>
          <p:cNvSpPr txBox="1"/>
          <p:nvPr/>
        </p:nvSpPr>
        <p:spPr>
          <a:xfrm>
            <a:off x="819150" y="1854108"/>
            <a:ext cx="5400675" cy="207749"/>
          </a:xfrm>
          <a:prstGeom prst="rect">
            <a:avLst/>
          </a:prstGeom>
          <a:noFill/>
          <a:ln>
            <a:noFill/>
          </a:ln>
        </p:spPr>
        <p:txBody>
          <a:bodyPr spcFirstLastPara="1" wrap="square" lIns="0" tIns="0" rIns="0" bIns="0" anchor="ctr" anchorCtr="0">
            <a:spAutoFit/>
          </a:bodyPr>
          <a:lstStyle/>
          <a:p>
            <a:pPr marL="0" marR="0" lvl="0" indent="0" algn="just" rtl="0">
              <a:spcBef>
                <a:spcPts val="0"/>
              </a:spcBef>
              <a:spcAft>
                <a:spcPts val="0"/>
              </a:spcAft>
              <a:buNone/>
            </a:pPr>
            <a:r>
              <a:rPr lang="en-US" sz="1350" b="0" i="0" u="none" strike="noStrike" cap="none">
                <a:solidFill>
                  <a:srgbClr val="0F172A"/>
                </a:solidFill>
                <a:latin typeface="Times New Roman" panose="02020603050405020304" pitchFamily="18" charset="0"/>
                <a:ea typeface="Poppins SemiBold"/>
                <a:cs typeface="Times New Roman" panose="02020603050405020304" pitchFamily="18" charset="0"/>
                <a:sym typeface="Poppins SemiBold"/>
              </a:rPr>
              <a:t>Core System Features</a:t>
            </a:r>
            <a:endParaRPr>
              <a:latin typeface="Times New Roman" panose="02020603050405020304" pitchFamily="18" charset="0"/>
              <a:cs typeface="Times New Roman" panose="02020603050405020304" pitchFamily="18" charset="0"/>
            </a:endParaRPr>
          </a:p>
        </p:txBody>
      </p:sp>
      <p:sp>
        <p:nvSpPr>
          <p:cNvPr id="134" name="Google Shape;134;p15"/>
          <p:cNvSpPr/>
          <p:nvPr/>
        </p:nvSpPr>
        <p:spPr>
          <a:xfrm>
            <a:off x="523875" y="2153245"/>
            <a:ext cx="5438775"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35" name="Google Shape;135;p15"/>
          <p:cNvSpPr txBox="1"/>
          <p:nvPr/>
        </p:nvSpPr>
        <p:spPr>
          <a:xfrm>
            <a:off x="6524625" y="1854108"/>
            <a:ext cx="5400675" cy="207749"/>
          </a:xfrm>
          <a:prstGeom prst="rect">
            <a:avLst/>
          </a:prstGeom>
          <a:noFill/>
          <a:ln>
            <a:noFill/>
          </a:ln>
        </p:spPr>
        <p:txBody>
          <a:bodyPr spcFirstLastPara="1" wrap="square" lIns="0" tIns="0" rIns="0" bIns="0" anchor="ctr" anchorCtr="0">
            <a:spAutoFit/>
          </a:bodyPr>
          <a:lstStyle/>
          <a:p>
            <a:pPr marL="0" marR="0" lvl="0" indent="0" algn="just" rtl="0">
              <a:spcBef>
                <a:spcPts val="0"/>
              </a:spcBef>
              <a:spcAft>
                <a:spcPts val="0"/>
              </a:spcAft>
              <a:buNone/>
            </a:pPr>
            <a:r>
              <a:rPr lang="en-US" sz="1350" b="0" i="0" u="none" strike="noStrike" cap="none">
                <a:solidFill>
                  <a:srgbClr val="0F172A"/>
                </a:solidFill>
                <a:latin typeface="Times New Roman" panose="02020603050405020304" pitchFamily="18" charset="0"/>
                <a:ea typeface="Poppins SemiBold"/>
                <a:cs typeface="Times New Roman" panose="02020603050405020304" pitchFamily="18" charset="0"/>
                <a:sym typeface="Poppins SemiBold"/>
              </a:rPr>
              <a:t>Sample System Output</a:t>
            </a:r>
            <a:endParaRPr>
              <a:latin typeface="Times New Roman" panose="02020603050405020304" pitchFamily="18" charset="0"/>
              <a:cs typeface="Times New Roman" panose="02020603050405020304" pitchFamily="18" charset="0"/>
            </a:endParaRPr>
          </a:p>
        </p:txBody>
      </p:sp>
      <p:sp>
        <p:nvSpPr>
          <p:cNvPr id="136" name="Google Shape;136;p15"/>
          <p:cNvSpPr/>
          <p:nvPr/>
        </p:nvSpPr>
        <p:spPr>
          <a:xfrm>
            <a:off x="6229350" y="2153245"/>
            <a:ext cx="5438775"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38" name="Google Shape;138;p15"/>
          <p:cNvSpPr txBox="1"/>
          <p:nvPr/>
        </p:nvSpPr>
        <p:spPr>
          <a:xfrm>
            <a:off x="704850" y="2448520"/>
            <a:ext cx="5330666" cy="173124"/>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125" b="0" i="0" u="none" strike="noStrike" cap="none">
                <a:solidFill>
                  <a:srgbClr val="0F172A"/>
                </a:solidFill>
                <a:latin typeface="Times New Roman" panose="02020603050405020304" pitchFamily="18" charset="0"/>
                <a:ea typeface="Poppins SemiBold"/>
                <a:cs typeface="Times New Roman" panose="02020603050405020304" pitchFamily="18" charset="0"/>
                <a:sym typeface="Poppins SemiBold"/>
              </a:rPr>
              <a:t>Ingredient Identification &amp; Tracking</a:t>
            </a:r>
            <a:endParaRPr>
              <a:latin typeface="Times New Roman" panose="02020603050405020304" pitchFamily="18" charset="0"/>
              <a:cs typeface="Times New Roman" panose="02020603050405020304" pitchFamily="18" charset="0"/>
            </a:endParaRPr>
          </a:p>
        </p:txBody>
      </p:sp>
      <p:sp>
        <p:nvSpPr>
          <p:cNvPr id="139" name="Google Shape;139;p15"/>
          <p:cNvSpPr txBox="1"/>
          <p:nvPr/>
        </p:nvSpPr>
        <p:spPr>
          <a:xfrm>
            <a:off x="704850" y="2705695"/>
            <a:ext cx="5076825" cy="217560"/>
          </a:xfrm>
          <a:prstGeom prst="rect">
            <a:avLst/>
          </a:prstGeom>
          <a:noFill/>
          <a:ln>
            <a:noFill/>
          </a:ln>
        </p:spPr>
        <p:txBody>
          <a:bodyPr spcFirstLastPara="1" wrap="square" lIns="0" tIns="0" rIns="0" bIns="0" anchor="t" anchorCtr="0">
            <a:spAutoFit/>
          </a:bodyPr>
          <a:lstStyle/>
          <a:p>
            <a:pPr marL="0" marR="0" lvl="0" indent="0" algn="just" rtl="0">
              <a:lnSpc>
                <a:spcPct val="144923"/>
              </a:lnSpc>
              <a:spcBef>
                <a:spcPts val="0"/>
              </a:spcBef>
              <a:spcAft>
                <a:spcPts val="0"/>
              </a:spcAft>
              <a:buNone/>
            </a:pPr>
            <a:r>
              <a:rPr lang="en-US" sz="975" b="0" i="0" u="none" strike="noStrike" cap="none">
                <a:solidFill>
                  <a:srgbClr val="475569"/>
                </a:solidFill>
                <a:latin typeface="Times New Roman" panose="02020603050405020304" pitchFamily="18" charset="0"/>
                <a:ea typeface="Lato"/>
                <a:cs typeface="Times New Roman" panose="02020603050405020304" pitchFamily="18" charset="0"/>
                <a:sym typeface="Lato"/>
              </a:rPr>
              <a:t>Text/Image ingredient input coupled with active expiry tracking and priority alerts.</a:t>
            </a:r>
            <a:endParaRPr>
              <a:latin typeface="Times New Roman" panose="02020603050405020304" pitchFamily="18" charset="0"/>
              <a:cs typeface="Times New Roman" panose="02020603050405020304" pitchFamily="18" charset="0"/>
            </a:endParaRPr>
          </a:p>
        </p:txBody>
      </p:sp>
      <p:sp>
        <p:nvSpPr>
          <p:cNvPr id="140" name="Google Shape;140;p15"/>
          <p:cNvSpPr txBox="1"/>
          <p:nvPr/>
        </p:nvSpPr>
        <p:spPr>
          <a:xfrm>
            <a:off x="704850" y="2932807"/>
            <a:ext cx="5076825" cy="142875"/>
          </a:xfrm>
          <a:prstGeom prst="rect">
            <a:avLst/>
          </a:prstGeom>
          <a:noFill/>
          <a:ln>
            <a:noFill/>
          </a:ln>
        </p:spPr>
        <p:txBody>
          <a:bodyPr spcFirstLastPara="1" wrap="square" lIns="114300" tIns="0" rIns="0" bIns="0" anchor="t" anchorCtr="0">
            <a:spAutoFit/>
          </a:bodyPr>
          <a:lstStyle/>
          <a:p>
            <a:pPr marL="0" marR="0" lvl="0" indent="0" algn="just" rtl="0">
              <a:spcBef>
                <a:spcPts val="0"/>
              </a:spcBef>
              <a:spcAft>
                <a:spcPts val="0"/>
              </a:spcAft>
              <a:buNone/>
            </a:pPr>
            <a:r>
              <a:rPr lang="en-US" sz="900" b="0" i="0" u="none" strike="noStrike" cap="none">
                <a:solidFill>
                  <a:srgbClr val="059669"/>
                </a:solidFill>
                <a:latin typeface="Times New Roman" panose="02020603050405020304" pitchFamily="18" charset="0"/>
                <a:ea typeface="Lato"/>
                <a:cs typeface="Times New Roman" panose="02020603050405020304" pitchFamily="18" charset="0"/>
                <a:sym typeface="Lato"/>
              </a:rPr>
              <a:t>Outcome: Expiry-Driven Prioritization</a:t>
            </a:r>
            <a:endParaRPr>
              <a:latin typeface="Times New Roman" panose="02020603050405020304" pitchFamily="18" charset="0"/>
              <a:cs typeface="Times New Roman" panose="02020603050405020304" pitchFamily="18" charset="0"/>
            </a:endParaRPr>
          </a:p>
        </p:txBody>
      </p:sp>
      <p:sp>
        <p:nvSpPr>
          <p:cNvPr id="141" name="Google Shape;141;p15"/>
          <p:cNvSpPr txBox="1"/>
          <p:nvPr/>
        </p:nvSpPr>
        <p:spPr>
          <a:xfrm>
            <a:off x="704850" y="3475732"/>
            <a:ext cx="5330666" cy="173124"/>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125" b="0" i="0" u="none" strike="noStrike" cap="none">
                <a:solidFill>
                  <a:srgbClr val="0F172A"/>
                </a:solidFill>
                <a:latin typeface="Times New Roman" panose="02020603050405020304" pitchFamily="18" charset="0"/>
                <a:ea typeface="Poppins SemiBold"/>
                <a:cs typeface="Times New Roman" panose="02020603050405020304" pitchFamily="18" charset="0"/>
                <a:sym typeface="Poppins SemiBold"/>
              </a:rPr>
              <a:t>RAG &amp; LLM Recipe Generation</a:t>
            </a:r>
            <a:endParaRPr>
              <a:latin typeface="Times New Roman" panose="02020603050405020304" pitchFamily="18" charset="0"/>
              <a:cs typeface="Times New Roman" panose="02020603050405020304" pitchFamily="18" charset="0"/>
            </a:endParaRPr>
          </a:p>
        </p:txBody>
      </p:sp>
      <p:sp>
        <p:nvSpPr>
          <p:cNvPr id="142" name="Google Shape;142;p15"/>
          <p:cNvSpPr txBox="1"/>
          <p:nvPr/>
        </p:nvSpPr>
        <p:spPr>
          <a:xfrm>
            <a:off x="704850" y="3732907"/>
            <a:ext cx="5076825" cy="217560"/>
          </a:xfrm>
          <a:prstGeom prst="rect">
            <a:avLst/>
          </a:prstGeom>
          <a:noFill/>
          <a:ln>
            <a:noFill/>
          </a:ln>
        </p:spPr>
        <p:txBody>
          <a:bodyPr spcFirstLastPara="1" wrap="square" lIns="0" tIns="0" rIns="0" bIns="0" anchor="t" anchorCtr="0">
            <a:spAutoFit/>
          </a:bodyPr>
          <a:lstStyle/>
          <a:p>
            <a:pPr marL="0" marR="0" lvl="0" indent="0" algn="just" rtl="0">
              <a:lnSpc>
                <a:spcPct val="144923"/>
              </a:lnSpc>
              <a:spcBef>
                <a:spcPts val="0"/>
              </a:spcBef>
              <a:spcAft>
                <a:spcPts val="0"/>
              </a:spcAft>
              <a:buNone/>
            </a:pPr>
            <a:r>
              <a:rPr lang="en-US" sz="975" b="0" i="0" u="none" strike="noStrike" cap="none">
                <a:solidFill>
                  <a:srgbClr val="475569"/>
                </a:solidFill>
                <a:latin typeface="Times New Roman" panose="02020603050405020304" pitchFamily="18" charset="0"/>
                <a:ea typeface="Lato"/>
                <a:cs typeface="Times New Roman" panose="02020603050405020304" pitchFamily="18" charset="0"/>
                <a:sym typeface="Lato"/>
              </a:rPr>
              <a:t>Contextual recipe retrieval using FAISS vector search combined with tailored Gemini AI guidance.</a:t>
            </a:r>
            <a:endParaRPr>
              <a:latin typeface="Times New Roman" panose="02020603050405020304" pitchFamily="18" charset="0"/>
              <a:cs typeface="Times New Roman" panose="02020603050405020304" pitchFamily="18" charset="0"/>
            </a:endParaRPr>
          </a:p>
        </p:txBody>
      </p:sp>
      <p:sp>
        <p:nvSpPr>
          <p:cNvPr id="143" name="Google Shape;143;p15"/>
          <p:cNvSpPr txBox="1"/>
          <p:nvPr/>
        </p:nvSpPr>
        <p:spPr>
          <a:xfrm>
            <a:off x="704850" y="4139505"/>
            <a:ext cx="5076825" cy="142875"/>
          </a:xfrm>
          <a:prstGeom prst="rect">
            <a:avLst/>
          </a:prstGeom>
          <a:noFill/>
          <a:ln>
            <a:noFill/>
          </a:ln>
        </p:spPr>
        <p:txBody>
          <a:bodyPr spcFirstLastPara="1" wrap="square" lIns="114300" tIns="0" rIns="0" bIns="0" anchor="t" anchorCtr="0">
            <a:spAutoFit/>
          </a:bodyPr>
          <a:lstStyle/>
          <a:p>
            <a:pPr marL="0" marR="0" lvl="0" indent="0" algn="just" rtl="0">
              <a:spcBef>
                <a:spcPts val="0"/>
              </a:spcBef>
              <a:spcAft>
                <a:spcPts val="0"/>
              </a:spcAft>
              <a:buNone/>
            </a:pPr>
            <a:r>
              <a:rPr lang="en-US" sz="900" b="0" i="0" u="none" strike="noStrike" cap="none" dirty="0">
                <a:solidFill>
                  <a:srgbClr val="059669"/>
                </a:solidFill>
                <a:latin typeface="Times New Roman" panose="02020603050405020304" pitchFamily="18" charset="0"/>
                <a:ea typeface="Lato"/>
                <a:cs typeface="Times New Roman" panose="02020603050405020304" pitchFamily="18" charset="0"/>
                <a:sym typeface="Lato"/>
              </a:rPr>
              <a:t>Outcome: Accurate Identification &amp; Retrieval</a:t>
            </a:r>
            <a:endParaRPr dirty="0">
              <a:latin typeface="Times New Roman" panose="02020603050405020304" pitchFamily="18" charset="0"/>
              <a:cs typeface="Times New Roman" panose="02020603050405020304" pitchFamily="18" charset="0"/>
            </a:endParaRPr>
          </a:p>
        </p:txBody>
      </p:sp>
      <p:sp>
        <p:nvSpPr>
          <p:cNvPr id="144" name="Google Shape;144;p15"/>
          <p:cNvSpPr txBox="1"/>
          <p:nvPr/>
        </p:nvSpPr>
        <p:spPr>
          <a:xfrm>
            <a:off x="704850" y="4682430"/>
            <a:ext cx="5330666" cy="173124"/>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125" b="0" i="0" u="none" strike="noStrike" cap="none">
                <a:solidFill>
                  <a:srgbClr val="0F172A"/>
                </a:solidFill>
                <a:latin typeface="Times New Roman" panose="02020603050405020304" pitchFamily="18" charset="0"/>
                <a:ea typeface="Poppins SemiBold"/>
                <a:cs typeface="Times New Roman" panose="02020603050405020304" pitchFamily="18" charset="0"/>
                <a:sym typeface="Poppins SemiBold"/>
              </a:rPr>
              <a:t>Smart Substitutions &amp; Assistance</a:t>
            </a:r>
            <a:endParaRPr>
              <a:latin typeface="Times New Roman" panose="02020603050405020304" pitchFamily="18" charset="0"/>
              <a:cs typeface="Times New Roman" panose="02020603050405020304" pitchFamily="18" charset="0"/>
            </a:endParaRPr>
          </a:p>
        </p:txBody>
      </p:sp>
      <p:sp>
        <p:nvSpPr>
          <p:cNvPr id="145" name="Google Shape;145;p15"/>
          <p:cNvSpPr txBox="1"/>
          <p:nvPr/>
        </p:nvSpPr>
        <p:spPr>
          <a:xfrm>
            <a:off x="704850" y="4939605"/>
            <a:ext cx="5076825" cy="217560"/>
          </a:xfrm>
          <a:prstGeom prst="rect">
            <a:avLst/>
          </a:prstGeom>
          <a:noFill/>
          <a:ln>
            <a:noFill/>
          </a:ln>
        </p:spPr>
        <p:txBody>
          <a:bodyPr spcFirstLastPara="1" wrap="square" lIns="0" tIns="0" rIns="0" bIns="0" anchor="t" anchorCtr="0">
            <a:spAutoFit/>
          </a:bodyPr>
          <a:lstStyle/>
          <a:p>
            <a:pPr marL="0" marR="0" lvl="0" indent="0" algn="just" rtl="0">
              <a:lnSpc>
                <a:spcPct val="144923"/>
              </a:lnSpc>
              <a:spcBef>
                <a:spcPts val="0"/>
              </a:spcBef>
              <a:spcAft>
                <a:spcPts val="0"/>
              </a:spcAft>
              <a:buNone/>
            </a:pPr>
            <a:r>
              <a:rPr lang="en-US" sz="975" b="0" i="0" u="none" strike="noStrike" cap="none">
                <a:solidFill>
                  <a:srgbClr val="475569"/>
                </a:solidFill>
                <a:latin typeface="Times New Roman" panose="02020603050405020304" pitchFamily="18" charset="0"/>
                <a:ea typeface="Lato"/>
                <a:cs typeface="Times New Roman" panose="02020603050405020304" pitchFamily="18" charset="0"/>
                <a:sym typeface="Lato"/>
              </a:rPr>
              <a:t>Dynamic ingredient replacement options and interactive conversational cooking support.</a:t>
            </a:r>
            <a:endParaRPr>
              <a:latin typeface="Times New Roman" panose="02020603050405020304" pitchFamily="18" charset="0"/>
              <a:cs typeface="Times New Roman" panose="02020603050405020304" pitchFamily="18" charset="0"/>
            </a:endParaRPr>
          </a:p>
        </p:txBody>
      </p:sp>
      <p:sp>
        <p:nvSpPr>
          <p:cNvPr id="146" name="Google Shape;146;p15"/>
          <p:cNvSpPr txBox="1"/>
          <p:nvPr/>
        </p:nvSpPr>
        <p:spPr>
          <a:xfrm>
            <a:off x="704850" y="5166717"/>
            <a:ext cx="5076825" cy="142875"/>
          </a:xfrm>
          <a:prstGeom prst="rect">
            <a:avLst/>
          </a:prstGeom>
          <a:noFill/>
          <a:ln>
            <a:noFill/>
          </a:ln>
        </p:spPr>
        <p:txBody>
          <a:bodyPr spcFirstLastPara="1" wrap="square" lIns="114300" tIns="0" rIns="0" bIns="0" anchor="t" anchorCtr="0">
            <a:spAutoFit/>
          </a:bodyPr>
          <a:lstStyle/>
          <a:p>
            <a:pPr marL="0" marR="0" lvl="0" indent="0" algn="just" rtl="0">
              <a:spcBef>
                <a:spcPts val="0"/>
              </a:spcBef>
              <a:spcAft>
                <a:spcPts val="0"/>
              </a:spcAft>
              <a:buNone/>
            </a:pPr>
            <a:r>
              <a:rPr lang="en-US" sz="900" b="0" i="0" u="none" strike="noStrike" cap="none">
                <a:solidFill>
                  <a:srgbClr val="059669"/>
                </a:solidFill>
                <a:latin typeface="Times New Roman" panose="02020603050405020304" pitchFamily="18" charset="0"/>
                <a:ea typeface="Lato"/>
                <a:cs typeface="Times New Roman" panose="02020603050405020304" pitchFamily="18" charset="0"/>
                <a:sym typeface="Lato"/>
              </a:rPr>
              <a:t>Outcome: Direct Household Waste Reduction</a:t>
            </a:r>
            <a:endParaRPr>
              <a:latin typeface="Times New Roman" panose="02020603050405020304" pitchFamily="18" charset="0"/>
              <a:cs typeface="Times New Roman" panose="02020603050405020304" pitchFamily="18" charset="0"/>
            </a:endParaRPr>
          </a:p>
        </p:txBody>
      </p:sp>
      <p:pic>
        <p:nvPicPr>
          <p:cNvPr id="148" name="Google Shape;148;p15" descr="image.png"/>
          <p:cNvPicPr preferRelativeResize="0"/>
          <p:nvPr/>
        </p:nvPicPr>
        <p:blipFill rotWithShape="1">
          <a:blip r:embed="rId9">
            <a:alphaModFix/>
          </a:blip>
          <a:srcRect/>
          <a:stretch/>
        </p:blipFill>
        <p:spPr>
          <a:xfrm>
            <a:off x="6448425" y="2486620"/>
            <a:ext cx="1775519" cy="200025"/>
          </a:xfrm>
          <a:prstGeom prst="rect">
            <a:avLst/>
          </a:prstGeom>
          <a:noFill/>
          <a:ln>
            <a:noFill/>
          </a:ln>
        </p:spPr>
      </p:pic>
      <p:sp>
        <p:nvSpPr>
          <p:cNvPr id="149" name="Google Shape;149;p15"/>
          <p:cNvSpPr txBox="1"/>
          <p:nvPr/>
        </p:nvSpPr>
        <p:spPr>
          <a:xfrm>
            <a:off x="6448425" y="2781895"/>
            <a:ext cx="5250656" cy="207749"/>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350" b="1" i="0" u="none" strike="noStrike" cap="none">
                <a:solidFill>
                  <a:srgbClr val="0F172A"/>
                </a:solidFill>
                <a:latin typeface="Times New Roman" panose="02020603050405020304" pitchFamily="18" charset="0"/>
                <a:ea typeface="Poppins"/>
                <a:cs typeface="Times New Roman" panose="02020603050405020304" pitchFamily="18" charset="0"/>
                <a:sym typeface="Poppins"/>
              </a:rPr>
              <a:t>Vegetable Egg Fried Rice</a:t>
            </a:r>
            <a:endParaRPr>
              <a:latin typeface="Times New Roman" panose="02020603050405020304" pitchFamily="18" charset="0"/>
              <a:cs typeface="Times New Roman" panose="02020603050405020304" pitchFamily="18" charset="0"/>
            </a:endParaRPr>
          </a:p>
        </p:txBody>
      </p:sp>
      <p:sp>
        <p:nvSpPr>
          <p:cNvPr id="150" name="Google Shape;150;p15"/>
          <p:cNvSpPr/>
          <p:nvPr/>
        </p:nvSpPr>
        <p:spPr>
          <a:xfrm>
            <a:off x="6448425" y="3096220"/>
            <a:ext cx="500062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51" name="Google Shape;151;p15"/>
          <p:cNvSpPr txBox="1"/>
          <p:nvPr/>
        </p:nvSpPr>
        <p:spPr>
          <a:xfrm>
            <a:off x="6448425" y="3200995"/>
            <a:ext cx="5000625" cy="210058"/>
          </a:xfrm>
          <a:prstGeom prst="rect">
            <a:avLst/>
          </a:prstGeom>
          <a:noFill/>
          <a:ln>
            <a:noFill/>
          </a:ln>
        </p:spPr>
        <p:txBody>
          <a:bodyPr spcFirstLastPara="1" wrap="square" lIns="0" tIns="0" rIns="0" bIns="0" anchor="t" anchorCtr="0">
            <a:spAutoFit/>
          </a:bodyPr>
          <a:lstStyle/>
          <a:p>
            <a:pPr marL="0" marR="0" lvl="0" indent="0" algn="just" rtl="0">
              <a:lnSpc>
                <a:spcPct val="139897"/>
              </a:lnSpc>
              <a:spcBef>
                <a:spcPts val="0"/>
              </a:spcBef>
              <a:spcAft>
                <a:spcPts val="0"/>
              </a:spcAft>
              <a:buNone/>
            </a:pPr>
            <a:r>
              <a:rPr lang="en-US" sz="975" b="1" i="0" u="none" strike="noStrike" cap="none">
                <a:solidFill>
                  <a:srgbClr val="0F172A"/>
                </a:solidFill>
                <a:latin typeface="Times New Roman" panose="02020603050405020304" pitchFamily="18" charset="0"/>
                <a:ea typeface="Lato"/>
                <a:cs typeface="Times New Roman" panose="02020603050405020304" pitchFamily="18" charset="0"/>
                <a:sym typeface="Lato"/>
              </a:rPr>
              <a:t>Ingredients:</a:t>
            </a:r>
            <a:r>
              <a:rPr lang="en-US" sz="975" b="0" i="0" u="none" strike="noStrike" cap="none">
                <a:solidFill>
                  <a:srgbClr val="334155"/>
                </a:solidFill>
                <a:latin typeface="Times New Roman" panose="02020603050405020304" pitchFamily="18" charset="0"/>
                <a:ea typeface="Lato"/>
                <a:cs typeface="Times New Roman" panose="02020603050405020304" pitchFamily="18" charset="0"/>
                <a:sym typeface="Lato"/>
              </a:rPr>
              <a:t> Leftover rice, carrot, onion, eggs</a:t>
            </a:r>
            <a:endParaRPr>
              <a:latin typeface="Times New Roman" panose="02020603050405020304" pitchFamily="18" charset="0"/>
              <a:cs typeface="Times New Roman" panose="02020603050405020304" pitchFamily="18" charset="0"/>
            </a:endParaRPr>
          </a:p>
        </p:txBody>
      </p:sp>
      <p:sp>
        <p:nvSpPr>
          <p:cNvPr id="152" name="Google Shape;152;p15"/>
          <p:cNvSpPr txBox="1"/>
          <p:nvPr/>
        </p:nvSpPr>
        <p:spPr>
          <a:xfrm>
            <a:off x="6448425" y="3469481"/>
            <a:ext cx="5000625" cy="210058"/>
          </a:xfrm>
          <a:prstGeom prst="rect">
            <a:avLst/>
          </a:prstGeom>
          <a:noFill/>
          <a:ln>
            <a:noFill/>
          </a:ln>
        </p:spPr>
        <p:txBody>
          <a:bodyPr spcFirstLastPara="1" wrap="square" lIns="0" tIns="0" rIns="0" bIns="0" anchor="t" anchorCtr="0">
            <a:spAutoFit/>
          </a:bodyPr>
          <a:lstStyle/>
          <a:p>
            <a:pPr marL="0" marR="0" lvl="0" indent="0" algn="just" rtl="0">
              <a:lnSpc>
                <a:spcPct val="139897"/>
              </a:lnSpc>
              <a:spcBef>
                <a:spcPts val="0"/>
              </a:spcBef>
              <a:spcAft>
                <a:spcPts val="0"/>
              </a:spcAft>
              <a:buNone/>
            </a:pPr>
            <a:r>
              <a:rPr lang="en-US" sz="975" b="1" i="0" u="none" strike="noStrike" cap="none">
                <a:solidFill>
                  <a:srgbClr val="0F172A"/>
                </a:solidFill>
                <a:latin typeface="Times New Roman" panose="02020603050405020304" pitchFamily="18" charset="0"/>
                <a:ea typeface="Lato"/>
                <a:cs typeface="Times New Roman" panose="02020603050405020304" pitchFamily="18" charset="0"/>
                <a:sym typeface="Lato"/>
              </a:rPr>
              <a:t>Why this recipe:</a:t>
            </a:r>
            <a:r>
              <a:rPr lang="en-US" sz="975" b="0" i="0" u="none" strike="noStrike" cap="none">
                <a:solidFill>
                  <a:srgbClr val="334155"/>
                </a:solidFill>
                <a:latin typeface="Times New Roman" panose="02020603050405020304" pitchFamily="18" charset="0"/>
                <a:ea typeface="Lato"/>
                <a:cs typeface="Times New Roman" panose="02020603050405020304" pitchFamily="18" charset="0"/>
                <a:sym typeface="Lato"/>
              </a:rPr>
              <a:t> Uses available leftover ingredients effectively to minimize kitchen waste.</a:t>
            </a:r>
            <a:endParaRPr>
              <a:latin typeface="Times New Roman" panose="02020603050405020304" pitchFamily="18" charset="0"/>
              <a:cs typeface="Times New Roman" panose="02020603050405020304" pitchFamily="18" charset="0"/>
            </a:endParaRPr>
          </a:p>
        </p:txBody>
      </p:sp>
      <p:sp>
        <p:nvSpPr>
          <p:cNvPr id="156" name="Google Shape;156;p15"/>
          <p:cNvSpPr txBox="1"/>
          <p:nvPr/>
        </p:nvSpPr>
        <p:spPr>
          <a:xfrm>
            <a:off x="6610350" y="3833217"/>
            <a:ext cx="4940617" cy="142875"/>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937" b="1" i="0" u="none" strike="noStrike" cap="none">
                <a:solidFill>
                  <a:srgbClr val="0F172A"/>
                </a:solidFill>
                <a:latin typeface="Times New Roman" panose="02020603050405020304" pitchFamily="18" charset="0"/>
                <a:ea typeface="Lato"/>
                <a:cs typeface="Times New Roman" panose="02020603050405020304" pitchFamily="18" charset="0"/>
                <a:sym typeface="Lato"/>
              </a:rPr>
              <a:t>RECIPE PREPARATION STEPS</a:t>
            </a:r>
            <a:endParaRPr>
              <a:latin typeface="Times New Roman" panose="02020603050405020304" pitchFamily="18" charset="0"/>
              <a:cs typeface="Times New Roman" panose="02020603050405020304" pitchFamily="18" charset="0"/>
            </a:endParaRPr>
          </a:p>
        </p:txBody>
      </p:sp>
      <p:sp>
        <p:nvSpPr>
          <p:cNvPr id="158" name="Google Shape;158;p15"/>
          <p:cNvSpPr txBox="1"/>
          <p:nvPr/>
        </p:nvSpPr>
        <p:spPr>
          <a:xfrm>
            <a:off x="6800850" y="5095279"/>
            <a:ext cx="4505325" cy="403828"/>
          </a:xfrm>
          <a:prstGeom prst="rect">
            <a:avLst/>
          </a:prstGeom>
          <a:noFill/>
          <a:ln>
            <a:noFill/>
          </a:ln>
        </p:spPr>
        <p:txBody>
          <a:bodyPr spcFirstLastPara="1" wrap="square" lIns="0" tIns="0" rIns="0" bIns="0" anchor="t" anchorCtr="0">
            <a:spAutoFit/>
          </a:bodyPr>
          <a:lstStyle/>
          <a:p>
            <a:pPr marL="0" marR="0" lvl="0" indent="0" algn="just" rtl="0">
              <a:lnSpc>
                <a:spcPct val="140021"/>
              </a:lnSpc>
              <a:spcBef>
                <a:spcPts val="0"/>
              </a:spcBef>
              <a:spcAft>
                <a:spcPts val="0"/>
              </a:spcAft>
              <a:buNone/>
            </a:pPr>
            <a:r>
              <a:rPr lang="en-US" sz="937" b="0" i="0" u="none" strike="noStrike" cap="none" dirty="0">
                <a:solidFill>
                  <a:srgbClr val="92400E"/>
                </a:solidFill>
                <a:latin typeface="Times New Roman" panose="02020603050405020304" pitchFamily="18" charset="0"/>
                <a:ea typeface="Lato Black"/>
                <a:cs typeface="Times New Roman" panose="02020603050405020304" pitchFamily="18" charset="0"/>
                <a:sym typeface="Lato Black"/>
              </a:rPr>
              <a:t>WASTE REDUCTION TIP:</a:t>
            </a:r>
            <a:r>
              <a:rPr lang="en-US" sz="937" b="0" i="0" u="none" strike="noStrike" cap="none" dirty="0">
                <a:solidFill>
                  <a:srgbClr val="92400E"/>
                </a:solidFill>
                <a:latin typeface="Times New Roman" panose="02020603050405020304" pitchFamily="18" charset="0"/>
                <a:ea typeface="Lato"/>
                <a:cs typeface="Times New Roman" panose="02020603050405020304" pitchFamily="18" charset="0"/>
                <a:sym typeface="Lato"/>
              </a:rPr>
              <a:t> "Use the leftover rice within a safe storage period instead of throwing it away."</a:t>
            </a:r>
            <a:endParaRPr dirty="0">
              <a:latin typeface="Times New Roman" panose="02020603050405020304" pitchFamily="18" charset="0"/>
              <a:cs typeface="Times New Roman" panose="02020603050405020304" pitchFamily="18" charset="0"/>
            </a:endParaRPr>
          </a:p>
        </p:txBody>
      </p:sp>
      <p:sp>
        <p:nvSpPr>
          <p:cNvPr id="159" name="Google Shape;159;p15"/>
          <p:cNvSpPr txBox="1"/>
          <p:nvPr/>
        </p:nvSpPr>
        <p:spPr>
          <a:xfrm>
            <a:off x="6686550" y="4014787"/>
            <a:ext cx="95250" cy="144207"/>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937" b="0" i="0" u="none" strike="noStrike" cap="none">
                <a:solidFill>
                  <a:srgbClr val="475569"/>
                </a:solidFill>
                <a:latin typeface="Times New Roman" panose="02020603050405020304" pitchFamily="18" charset="0"/>
                <a:ea typeface="Lato"/>
                <a:cs typeface="Times New Roman" panose="02020603050405020304" pitchFamily="18" charset="0"/>
                <a:sym typeface="Lato"/>
              </a:rPr>
              <a:t>1.</a:t>
            </a:r>
            <a:endParaRPr>
              <a:latin typeface="Times New Roman" panose="02020603050405020304" pitchFamily="18" charset="0"/>
              <a:cs typeface="Times New Roman" panose="02020603050405020304" pitchFamily="18" charset="0"/>
            </a:endParaRPr>
          </a:p>
        </p:txBody>
      </p:sp>
      <p:sp>
        <p:nvSpPr>
          <p:cNvPr id="160" name="Google Shape;160;p15"/>
          <p:cNvSpPr txBox="1"/>
          <p:nvPr/>
        </p:nvSpPr>
        <p:spPr>
          <a:xfrm>
            <a:off x="6781800" y="4014192"/>
            <a:ext cx="4533900" cy="209096"/>
          </a:xfrm>
          <a:prstGeom prst="rect">
            <a:avLst/>
          </a:prstGeom>
          <a:noFill/>
          <a:ln>
            <a:noFill/>
          </a:ln>
        </p:spPr>
        <p:txBody>
          <a:bodyPr spcFirstLastPara="1" wrap="square" lIns="95250" tIns="0" rIns="0" bIns="0" anchor="t" anchorCtr="0">
            <a:spAutoFit/>
          </a:bodyPr>
          <a:lstStyle/>
          <a:p>
            <a:pPr marL="0" marR="0" lvl="0" indent="0" algn="just" rtl="0">
              <a:lnSpc>
                <a:spcPct val="145037"/>
              </a:lnSpc>
              <a:spcBef>
                <a:spcPts val="0"/>
              </a:spcBef>
              <a:spcAft>
                <a:spcPts val="0"/>
              </a:spcAft>
              <a:buNone/>
            </a:pPr>
            <a:r>
              <a:rPr lang="en-US" sz="937" b="0" i="0" u="none" strike="noStrike" cap="none">
                <a:solidFill>
                  <a:srgbClr val="475569"/>
                </a:solidFill>
                <a:latin typeface="Times New Roman" panose="02020603050405020304" pitchFamily="18" charset="0"/>
                <a:ea typeface="Lato"/>
                <a:cs typeface="Times New Roman" panose="02020603050405020304" pitchFamily="18" charset="0"/>
                <a:sym typeface="Lato"/>
              </a:rPr>
              <a:t>Sauté onion and carrot in a heated pan.</a:t>
            </a:r>
            <a:endParaRPr>
              <a:latin typeface="Times New Roman" panose="02020603050405020304" pitchFamily="18" charset="0"/>
              <a:cs typeface="Times New Roman" panose="02020603050405020304" pitchFamily="18" charset="0"/>
            </a:endParaRPr>
          </a:p>
        </p:txBody>
      </p:sp>
      <p:sp>
        <p:nvSpPr>
          <p:cNvPr id="161" name="Google Shape;161;p15"/>
          <p:cNvSpPr txBox="1"/>
          <p:nvPr/>
        </p:nvSpPr>
        <p:spPr>
          <a:xfrm>
            <a:off x="6686550" y="4206478"/>
            <a:ext cx="95250" cy="144207"/>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937" b="0" i="0" u="none" strike="noStrike" cap="none">
                <a:solidFill>
                  <a:srgbClr val="475569"/>
                </a:solidFill>
                <a:latin typeface="Times New Roman" panose="02020603050405020304" pitchFamily="18" charset="0"/>
                <a:ea typeface="Lato"/>
                <a:cs typeface="Times New Roman" panose="02020603050405020304" pitchFamily="18" charset="0"/>
                <a:sym typeface="Lato"/>
              </a:rPr>
              <a:t>2.</a:t>
            </a:r>
            <a:endParaRPr>
              <a:latin typeface="Times New Roman" panose="02020603050405020304" pitchFamily="18" charset="0"/>
              <a:cs typeface="Times New Roman" panose="02020603050405020304" pitchFamily="18" charset="0"/>
            </a:endParaRPr>
          </a:p>
        </p:txBody>
      </p:sp>
      <p:sp>
        <p:nvSpPr>
          <p:cNvPr id="162" name="Google Shape;162;p15"/>
          <p:cNvSpPr txBox="1"/>
          <p:nvPr/>
        </p:nvSpPr>
        <p:spPr>
          <a:xfrm>
            <a:off x="6781800" y="4205882"/>
            <a:ext cx="4533900" cy="209096"/>
          </a:xfrm>
          <a:prstGeom prst="rect">
            <a:avLst/>
          </a:prstGeom>
          <a:noFill/>
          <a:ln>
            <a:noFill/>
          </a:ln>
        </p:spPr>
        <p:txBody>
          <a:bodyPr spcFirstLastPara="1" wrap="square" lIns="95250" tIns="0" rIns="0" bIns="0" anchor="t" anchorCtr="0">
            <a:spAutoFit/>
          </a:bodyPr>
          <a:lstStyle/>
          <a:p>
            <a:pPr marL="0" marR="0" lvl="0" indent="0" algn="just" rtl="0">
              <a:lnSpc>
                <a:spcPct val="145037"/>
              </a:lnSpc>
              <a:spcBef>
                <a:spcPts val="0"/>
              </a:spcBef>
              <a:spcAft>
                <a:spcPts val="0"/>
              </a:spcAft>
              <a:buNone/>
            </a:pPr>
            <a:r>
              <a:rPr lang="en-US" sz="937" b="0" i="0" u="none" strike="noStrike" cap="none">
                <a:solidFill>
                  <a:srgbClr val="475569"/>
                </a:solidFill>
                <a:latin typeface="Times New Roman" panose="02020603050405020304" pitchFamily="18" charset="0"/>
                <a:ea typeface="Lato"/>
                <a:cs typeface="Times New Roman" panose="02020603050405020304" pitchFamily="18" charset="0"/>
                <a:sym typeface="Lato"/>
              </a:rPr>
              <a:t>Add the egg and scramble gently.</a:t>
            </a:r>
            <a:endParaRPr>
              <a:latin typeface="Times New Roman" panose="02020603050405020304" pitchFamily="18" charset="0"/>
              <a:cs typeface="Times New Roman" panose="02020603050405020304" pitchFamily="18" charset="0"/>
            </a:endParaRPr>
          </a:p>
        </p:txBody>
      </p:sp>
      <p:sp>
        <p:nvSpPr>
          <p:cNvPr id="163" name="Google Shape;163;p15"/>
          <p:cNvSpPr txBox="1"/>
          <p:nvPr/>
        </p:nvSpPr>
        <p:spPr>
          <a:xfrm>
            <a:off x="6686550" y="4398168"/>
            <a:ext cx="95250" cy="144207"/>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937" b="0" i="0" u="none" strike="noStrike" cap="none">
                <a:solidFill>
                  <a:srgbClr val="475569"/>
                </a:solidFill>
                <a:latin typeface="Times New Roman" panose="02020603050405020304" pitchFamily="18" charset="0"/>
                <a:ea typeface="Lato"/>
                <a:cs typeface="Times New Roman" panose="02020603050405020304" pitchFamily="18" charset="0"/>
                <a:sym typeface="Lato"/>
              </a:rPr>
              <a:t>3.</a:t>
            </a:r>
            <a:endParaRPr>
              <a:latin typeface="Times New Roman" panose="02020603050405020304" pitchFamily="18" charset="0"/>
              <a:cs typeface="Times New Roman" panose="02020603050405020304" pitchFamily="18" charset="0"/>
            </a:endParaRPr>
          </a:p>
        </p:txBody>
      </p:sp>
      <p:sp>
        <p:nvSpPr>
          <p:cNvPr id="164" name="Google Shape;164;p15"/>
          <p:cNvSpPr txBox="1"/>
          <p:nvPr/>
        </p:nvSpPr>
        <p:spPr>
          <a:xfrm>
            <a:off x="6781800" y="4397573"/>
            <a:ext cx="4533900" cy="209096"/>
          </a:xfrm>
          <a:prstGeom prst="rect">
            <a:avLst/>
          </a:prstGeom>
          <a:noFill/>
          <a:ln>
            <a:noFill/>
          </a:ln>
        </p:spPr>
        <p:txBody>
          <a:bodyPr spcFirstLastPara="1" wrap="square" lIns="95250" tIns="0" rIns="0" bIns="0" anchor="t" anchorCtr="0">
            <a:spAutoFit/>
          </a:bodyPr>
          <a:lstStyle/>
          <a:p>
            <a:pPr marL="0" marR="0" lvl="0" indent="0" algn="just" rtl="0">
              <a:lnSpc>
                <a:spcPct val="145037"/>
              </a:lnSpc>
              <a:spcBef>
                <a:spcPts val="0"/>
              </a:spcBef>
              <a:spcAft>
                <a:spcPts val="0"/>
              </a:spcAft>
              <a:buNone/>
            </a:pPr>
            <a:r>
              <a:rPr lang="en-US" sz="937" b="0" i="0" u="none" strike="noStrike" cap="none">
                <a:solidFill>
                  <a:srgbClr val="475569"/>
                </a:solidFill>
                <a:latin typeface="Times New Roman" panose="02020603050405020304" pitchFamily="18" charset="0"/>
                <a:ea typeface="Lato"/>
                <a:cs typeface="Times New Roman" panose="02020603050405020304" pitchFamily="18" charset="0"/>
                <a:sym typeface="Lato"/>
              </a:rPr>
              <a:t>Add leftover rice and mix thoroughly.</a:t>
            </a:r>
            <a:endParaRPr>
              <a:latin typeface="Times New Roman" panose="02020603050405020304" pitchFamily="18" charset="0"/>
              <a:cs typeface="Times New Roman" panose="02020603050405020304" pitchFamily="18" charset="0"/>
            </a:endParaRPr>
          </a:p>
        </p:txBody>
      </p:sp>
      <p:sp>
        <p:nvSpPr>
          <p:cNvPr id="165" name="Google Shape;165;p15"/>
          <p:cNvSpPr txBox="1"/>
          <p:nvPr/>
        </p:nvSpPr>
        <p:spPr>
          <a:xfrm>
            <a:off x="6686550" y="4589859"/>
            <a:ext cx="95250" cy="144207"/>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937" b="0" i="0" u="none" strike="noStrike" cap="none">
                <a:solidFill>
                  <a:srgbClr val="475569"/>
                </a:solidFill>
                <a:latin typeface="Times New Roman" panose="02020603050405020304" pitchFamily="18" charset="0"/>
                <a:ea typeface="Lato"/>
                <a:cs typeface="Times New Roman" panose="02020603050405020304" pitchFamily="18" charset="0"/>
                <a:sym typeface="Lato"/>
              </a:rPr>
              <a:t>4.</a:t>
            </a:r>
            <a:endParaRPr>
              <a:latin typeface="Times New Roman" panose="02020603050405020304" pitchFamily="18" charset="0"/>
              <a:cs typeface="Times New Roman" panose="02020603050405020304" pitchFamily="18" charset="0"/>
            </a:endParaRPr>
          </a:p>
        </p:txBody>
      </p:sp>
      <p:sp>
        <p:nvSpPr>
          <p:cNvPr id="166" name="Google Shape;166;p15"/>
          <p:cNvSpPr txBox="1"/>
          <p:nvPr/>
        </p:nvSpPr>
        <p:spPr>
          <a:xfrm>
            <a:off x="6781800" y="4589264"/>
            <a:ext cx="4533900" cy="209096"/>
          </a:xfrm>
          <a:prstGeom prst="rect">
            <a:avLst/>
          </a:prstGeom>
          <a:noFill/>
          <a:ln>
            <a:noFill/>
          </a:ln>
        </p:spPr>
        <p:txBody>
          <a:bodyPr spcFirstLastPara="1" wrap="square" lIns="95250" tIns="0" rIns="0" bIns="0" anchor="t" anchorCtr="0">
            <a:spAutoFit/>
          </a:bodyPr>
          <a:lstStyle/>
          <a:p>
            <a:pPr marL="0" marR="0" lvl="0" indent="0" algn="just" rtl="0">
              <a:lnSpc>
                <a:spcPct val="145037"/>
              </a:lnSpc>
              <a:spcBef>
                <a:spcPts val="0"/>
              </a:spcBef>
              <a:spcAft>
                <a:spcPts val="0"/>
              </a:spcAft>
              <a:buNone/>
            </a:pPr>
            <a:r>
              <a:rPr lang="en-US" sz="937" b="0" i="0" u="none" strike="noStrike" cap="none">
                <a:solidFill>
                  <a:srgbClr val="475569"/>
                </a:solidFill>
                <a:latin typeface="Times New Roman" panose="02020603050405020304" pitchFamily="18" charset="0"/>
                <a:ea typeface="Lato"/>
                <a:cs typeface="Times New Roman" panose="02020603050405020304" pitchFamily="18" charset="0"/>
                <a:sym typeface="Lato"/>
              </a:rPr>
              <a:t>Add seasoning and cook for a few minutes.</a:t>
            </a:r>
            <a:endParaRPr>
              <a:latin typeface="Times New Roman" panose="02020603050405020304" pitchFamily="18" charset="0"/>
              <a:cs typeface="Times New Roman" panose="02020603050405020304" pitchFamily="18" charset="0"/>
            </a:endParaRPr>
          </a:p>
        </p:txBody>
      </p:sp>
      <p:sp>
        <p:nvSpPr>
          <p:cNvPr id="167" name="Google Shape;167;p15"/>
          <p:cNvSpPr txBox="1"/>
          <p:nvPr/>
        </p:nvSpPr>
        <p:spPr>
          <a:xfrm>
            <a:off x="523875" y="474575"/>
            <a:ext cx="11668125" cy="346249"/>
          </a:xfrm>
          <a:prstGeom prst="rect">
            <a:avLst/>
          </a:prstGeom>
          <a:noFill/>
          <a:ln>
            <a:noFill/>
          </a:ln>
        </p:spPr>
        <p:txBody>
          <a:bodyPr spcFirstLastPara="1" wrap="square" lIns="0" tIns="0" rIns="0" bIns="0" anchor="ctr" anchorCtr="0">
            <a:spAutoFit/>
          </a:bodyPr>
          <a:lstStyle/>
          <a:p>
            <a:pPr marL="0" marR="0" lvl="0" indent="0" algn="just" rtl="0">
              <a:spcBef>
                <a:spcPts val="0"/>
              </a:spcBef>
              <a:spcAft>
                <a:spcPts val="0"/>
              </a:spcAft>
              <a:buNone/>
            </a:pPr>
            <a:r>
              <a:rPr lang="en-US" sz="2250" b="1" i="0" u="none" strike="noStrike" cap="none">
                <a:solidFill>
                  <a:srgbClr val="0F172A"/>
                </a:solidFill>
                <a:latin typeface="Times New Roman" panose="02020603050405020304" pitchFamily="18" charset="0"/>
                <a:ea typeface="Poppins"/>
                <a:cs typeface="Times New Roman" panose="02020603050405020304" pitchFamily="18" charset="0"/>
                <a:sym typeface="Poppins"/>
              </a:rPr>
              <a:t>System Features &amp; Sample Output</a:t>
            </a:r>
            <a:endParaRPr>
              <a:latin typeface="Times New Roman" panose="02020603050405020304" pitchFamily="18" charset="0"/>
              <a:cs typeface="Times New Roman" panose="02020603050405020304" pitchFamily="18" charset="0"/>
            </a:endParaRPr>
          </a:p>
        </p:txBody>
      </p:sp>
      <p:sp>
        <p:nvSpPr>
          <p:cNvPr id="168" name="Google Shape;168;p15"/>
          <p:cNvSpPr/>
          <p:nvPr/>
        </p:nvSpPr>
        <p:spPr>
          <a:xfrm>
            <a:off x="523875" y="866775"/>
            <a:ext cx="76200" cy="285750"/>
          </a:xfrm>
          <a:prstGeom prst="roundRect">
            <a:avLst>
              <a:gd name="adj" fmla="val 50000"/>
            </a:avLst>
          </a:prstGeom>
          <a:solidFill>
            <a:srgbClr val="059669"/>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83"/>
        <p:cNvGrpSpPr/>
        <p:nvPr/>
      </p:nvGrpSpPr>
      <p:grpSpPr>
        <a:xfrm>
          <a:off x="0" y="0"/>
          <a:ext cx="0" cy="0"/>
          <a:chOff x="0" y="0"/>
          <a:chExt cx="0" cy="0"/>
        </a:xfrm>
      </p:grpSpPr>
      <p:pic>
        <p:nvPicPr>
          <p:cNvPr id="2" name="Google Shape;84;p13" descr="image.png">
            <a:extLst>
              <a:ext uri="{FF2B5EF4-FFF2-40B4-BE49-F238E27FC236}">
                <a16:creationId xmlns:a16="http://schemas.microsoft.com/office/drawing/2014/main" id="{A8E6B159-B00F-FE19-5CDE-4550CC3C7DA5}"/>
              </a:ext>
            </a:extLst>
          </p:cNvPr>
          <p:cNvPicPr preferRelativeResize="0"/>
          <p:nvPr/>
        </p:nvPicPr>
        <p:blipFill rotWithShape="1">
          <a:blip r:embed="rId2">
            <a:alphaModFix/>
          </a:blip>
          <a:srcRect/>
          <a:stretch/>
        </p:blipFill>
        <p:spPr>
          <a:xfrm>
            <a:off x="0" y="16626"/>
            <a:ext cx="12192000" cy="6858000"/>
          </a:xfrm>
          <a:prstGeom prst="rect">
            <a:avLst/>
          </a:prstGeom>
          <a:noFill/>
          <a:ln>
            <a:noFill/>
          </a:ln>
        </p:spPr>
      </p:pic>
      <p:pic>
        <p:nvPicPr>
          <p:cNvPr id="3" name="Google Shape;85;p13" descr="image.png">
            <a:extLst>
              <a:ext uri="{FF2B5EF4-FFF2-40B4-BE49-F238E27FC236}">
                <a16:creationId xmlns:a16="http://schemas.microsoft.com/office/drawing/2014/main" id="{23D4DBAC-294F-2B85-384B-74EDBDB3005B}"/>
              </a:ext>
            </a:extLst>
          </p:cNvPr>
          <p:cNvPicPr preferRelativeResize="0"/>
          <p:nvPr/>
        </p:nvPicPr>
        <p:blipFill rotWithShape="1">
          <a:blip r:embed="rId3">
            <a:alphaModFix/>
          </a:blip>
          <a:srcRect/>
          <a:stretch/>
        </p:blipFill>
        <p:spPr>
          <a:xfrm>
            <a:off x="493633" y="1728766"/>
            <a:ext cx="5357812" cy="2047875"/>
          </a:xfrm>
          <a:prstGeom prst="rect">
            <a:avLst/>
          </a:prstGeom>
          <a:noFill/>
          <a:ln>
            <a:noFill/>
          </a:ln>
        </p:spPr>
      </p:pic>
      <p:pic>
        <p:nvPicPr>
          <p:cNvPr id="4" name="Google Shape;86;p13" descr="image.png">
            <a:extLst>
              <a:ext uri="{FF2B5EF4-FFF2-40B4-BE49-F238E27FC236}">
                <a16:creationId xmlns:a16="http://schemas.microsoft.com/office/drawing/2014/main" id="{AC12BC6B-49DD-FBDB-ADF9-EB802462D440}"/>
              </a:ext>
            </a:extLst>
          </p:cNvPr>
          <p:cNvPicPr preferRelativeResize="0"/>
          <p:nvPr/>
        </p:nvPicPr>
        <p:blipFill rotWithShape="1">
          <a:blip r:embed="rId4">
            <a:alphaModFix/>
          </a:blip>
          <a:srcRect/>
          <a:stretch/>
        </p:blipFill>
        <p:spPr>
          <a:xfrm>
            <a:off x="6340555" y="1728765"/>
            <a:ext cx="5357812" cy="2047875"/>
          </a:xfrm>
          <a:prstGeom prst="rect">
            <a:avLst/>
          </a:prstGeom>
          <a:noFill/>
          <a:ln>
            <a:noFill/>
          </a:ln>
        </p:spPr>
      </p:pic>
      <p:sp>
        <p:nvSpPr>
          <p:cNvPr id="5" name="Google Shape;87;p13">
            <a:extLst>
              <a:ext uri="{FF2B5EF4-FFF2-40B4-BE49-F238E27FC236}">
                <a16:creationId xmlns:a16="http://schemas.microsoft.com/office/drawing/2014/main" id="{5FB93F6A-160B-376C-BFC7-A52B796ECA8E}"/>
              </a:ext>
            </a:extLst>
          </p:cNvPr>
          <p:cNvSpPr txBox="1"/>
          <p:nvPr/>
        </p:nvSpPr>
        <p:spPr>
          <a:xfrm>
            <a:off x="571500" y="876300"/>
            <a:ext cx="11601450" cy="548227"/>
          </a:xfrm>
          <a:prstGeom prst="rect">
            <a:avLst/>
          </a:prstGeom>
          <a:noFill/>
          <a:ln>
            <a:noFill/>
          </a:ln>
        </p:spPr>
        <p:txBody>
          <a:bodyPr spcFirstLastPara="1" wrap="square" lIns="0" tIns="0" rIns="0" bIns="0" anchor="t" anchorCtr="0">
            <a:spAutoFit/>
          </a:bodyPr>
          <a:lstStyle/>
          <a:p>
            <a:pPr marL="0" marR="0" lvl="0" indent="0" algn="just" rtl="0">
              <a:lnSpc>
                <a:spcPct val="124982"/>
              </a:lnSpc>
              <a:spcBef>
                <a:spcPts val="0"/>
              </a:spcBef>
              <a:spcAft>
                <a:spcPts val="0"/>
              </a:spcAft>
              <a:buNone/>
            </a:pPr>
            <a:r>
              <a:rPr lang="en-US" sz="2850" b="1" i="0" u="none" strike="noStrike" cap="none" dirty="0" err="1">
                <a:solidFill>
                  <a:srgbClr val="0F172A"/>
                </a:solidFill>
                <a:latin typeface="Times New Roman" panose="02020603050405020304" pitchFamily="18" charset="0"/>
                <a:ea typeface="Poppins"/>
                <a:cs typeface="Times New Roman" panose="02020603050405020304" pitchFamily="18" charset="0"/>
                <a:sym typeface="Poppins"/>
              </a:rPr>
              <a:t>CaseTag</a:t>
            </a:r>
            <a:r>
              <a:rPr lang="en-US" sz="2850" b="1" i="0" u="none" strike="noStrike" cap="none" dirty="0">
                <a:solidFill>
                  <a:srgbClr val="0F172A"/>
                </a:solidFill>
                <a:latin typeface="Times New Roman" panose="02020603050405020304" pitchFamily="18" charset="0"/>
                <a:ea typeface="Poppins"/>
                <a:cs typeface="Times New Roman" panose="02020603050405020304" pitchFamily="18" charset="0"/>
                <a:sym typeface="Poppins"/>
              </a:rPr>
              <a:t>: LLM-Based Legal Act &amp; Section Identification</a:t>
            </a:r>
            <a:endParaRPr dirty="0">
              <a:latin typeface="Times New Roman" panose="02020603050405020304" pitchFamily="18" charset="0"/>
              <a:cs typeface="Times New Roman" panose="02020603050405020304" pitchFamily="18" charset="0"/>
            </a:endParaRPr>
          </a:p>
        </p:txBody>
      </p:sp>
      <p:sp>
        <p:nvSpPr>
          <p:cNvPr id="6" name="Google Shape;88;p13">
            <a:extLst>
              <a:ext uri="{FF2B5EF4-FFF2-40B4-BE49-F238E27FC236}">
                <a16:creationId xmlns:a16="http://schemas.microsoft.com/office/drawing/2014/main" id="{D9E887FC-AA20-DABB-3297-1E22CFCC40FE}"/>
              </a:ext>
            </a:extLst>
          </p:cNvPr>
          <p:cNvSpPr txBox="1"/>
          <p:nvPr/>
        </p:nvSpPr>
        <p:spPr>
          <a:xfrm>
            <a:off x="649367" y="1854972"/>
            <a:ext cx="4965620" cy="253916"/>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650" b="0" i="0" u="none" strike="noStrike" cap="none" dirty="0">
                <a:solidFill>
                  <a:srgbClr val="0F172A"/>
                </a:solidFill>
                <a:latin typeface="Times New Roman" panose="02020603050405020304" pitchFamily="18" charset="0"/>
                <a:ea typeface="Poppins SemiBold"/>
                <a:cs typeface="Times New Roman" panose="02020603050405020304" pitchFamily="18" charset="0"/>
                <a:sym typeface="Poppins SemiBold"/>
              </a:rPr>
              <a:t>Problem Statement</a:t>
            </a:r>
            <a:endParaRPr dirty="0">
              <a:latin typeface="Times New Roman" panose="02020603050405020304" pitchFamily="18" charset="0"/>
              <a:cs typeface="Times New Roman" panose="02020603050405020304" pitchFamily="18" charset="0"/>
            </a:endParaRPr>
          </a:p>
        </p:txBody>
      </p:sp>
      <p:sp>
        <p:nvSpPr>
          <p:cNvPr id="7" name="Google Shape;89;p13">
            <a:extLst>
              <a:ext uri="{FF2B5EF4-FFF2-40B4-BE49-F238E27FC236}">
                <a16:creationId xmlns:a16="http://schemas.microsoft.com/office/drawing/2014/main" id="{E7BA94A2-792B-B424-6021-05A40E701957}"/>
              </a:ext>
            </a:extLst>
          </p:cNvPr>
          <p:cNvSpPr txBox="1"/>
          <p:nvPr/>
        </p:nvSpPr>
        <p:spPr>
          <a:xfrm>
            <a:off x="571500" y="2188412"/>
            <a:ext cx="5043487" cy="1142620"/>
          </a:xfrm>
          <a:prstGeom prst="rect">
            <a:avLst/>
          </a:prstGeom>
          <a:noFill/>
          <a:ln>
            <a:noFill/>
          </a:ln>
        </p:spPr>
        <p:txBody>
          <a:bodyPr spcFirstLastPara="1" wrap="square" lIns="0" tIns="0" rIns="0" bIns="0" anchor="t" anchorCtr="0">
            <a:spAutoFit/>
          </a:bodyPr>
          <a:lstStyle/>
          <a:p>
            <a:pPr marL="0" marR="0" lvl="0" indent="0" algn="just" rtl="0">
              <a:lnSpc>
                <a:spcPct val="164977"/>
              </a:lnSpc>
              <a:spcBef>
                <a:spcPts val="0"/>
              </a:spcBef>
              <a:spcAft>
                <a:spcPts val="0"/>
              </a:spcAft>
              <a:buNone/>
            </a:pPr>
            <a:r>
              <a:rPr lang="en-US" sz="1125" b="0" i="0" u="none" strike="noStrike" cap="none" dirty="0">
                <a:solidFill>
                  <a:srgbClr val="475569"/>
                </a:solidFill>
                <a:latin typeface="Times New Roman" panose="02020603050405020304" pitchFamily="18" charset="0"/>
                <a:ea typeface="Lato"/>
                <a:cs typeface="Times New Roman" panose="02020603050405020304" pitchFamily="18" charset="0"/>
                <a:sym typeface="Lato"/>
              </a:rPr>
              <a:t>Legal case filings contain complex information regarding legal issues, applicable Acts, and relevant sections, making manual identification slow and difficult. Existing systems require heavy human expertise and struggle with large case volumes, creating a need for automated AI analysis.</a:t>
            </a:r>
            <a:endParaRPr dirty="0">
              <a:latin typeface="Times New Roman" panose="02020603050405020304" pitchFamily="18" charset="0"/>
              <a:cs typeface="Times New Roman" panose="02020603050405020304" pitchFamily="18" charset="0"/>
            </a:endParaRPr>
          </a:p>
        </p:txBody>
      </p:sp>
      <p:sp>
        <p:nvSpPr>
          <p:cNvPr id="8" name="Google Shape;90;p13">
            <a:extLst>
              <a:ext uri="{FF2B5EF4-FFF2-40B4-BE49-F238E27FC236}">
                <a16:creationId xmlns:a16="http://schemas.microsoft.com/office/drawing/2014/main" id="{BDAE1F18-5F4F-7F18-7BA3-6623D712E128}"/>
              </a:ext>
            </a:extLst>
          </p:cNvPr>
          <p:cNvSpPr txBox="1"/>
          <p:nvPr/>
        </p:nvSpPr>
        <p:spPr>
          <a:xfrm>
            <a:off x="6458783" y="1854972"/>
            <a:ext cx="4965620" cy="253916"/>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650" b="0" i="0" u="none" strike="noStrike" cap="none" dirty="0">
                <a:solidFill>
                  <a:srgbClr val="0F172A"/>
                </a:solidFill>
                <a:latin typeface="Times New Roman" panose="02020603050405020304" pitchFamily="18" charset="0"/>
                <a:ea typeface="Poppins SemiBold"/>
                <a:cs typeface="Times New Roman" panose="02020603050405020304" pitchFamily="18" charset="0"/>
                <a:sym typeface="Poppins SemiBold"/>
              </a:rPr>
              <a:t>Core Objectives</a:t>
            </a:r>
            <a:endParaRPr dirty="0">
              <a:latin typeface="Times New Roman" panose="02020603050405020304" pitchFamily="18" charset="0"/>
              <a:cs typeface="Times New Roman" panose="02020603050405020304" pitchFamily="18" charset="0"/>
            </a:endParaRPr>
          </a:p>
        </p:txBody>
      </p:sp>
      <p:sp>
        <p:nvSpPr>
          <p:cNvPr id="9" name="Google Shape;91;p13">
            <a:extLst>
              <a:ext uri="{FF2B5EF4-FFF2-40B4-BE49-F238E27FC236}">
                <a16:creationId xmlns:a16="http://schemas.microsoft.com/office/drawing/2014/main" id="{8109E2AD-926C-6368-C2C9-B7E7128B96E3}"/>
              </a:ext>
            </a:extLst>
          </p:cNvPr>
          <p:cNvSpPr txBox="1"/>
          <p:nvPr/>
        </p:nvSpPr>
        <p:spPr>
          <a:xfrm>
            <a:off x="6458783" y="2188411"/>
            <a:ext cx="4729162" cy="1142620"/>
          </a:xfrm>
          <a:prstGeom prst="rect">
            <a:avLst/>
          </a:prstGeom>
          <a:noFill/>
          <a:ln>
            <a:noFill/>
          </a:ln>
        </p:spPr>
        <p:txBody>
          <a:bodyPr spcFirstLastPara="1" wrap="square" lIns="0" tIns="0" rIns="0" bIns="0" anchor="t" anchorCtr="0">
            <a:spAutoFit/>
          </a:bodyPr>
          <a:lstStyle/>
          <a:p>
            <a:pPr marL="0" marR="0" lvl="0" indent="0" algn="just" rtl="0">
              <a:lnSpc>
                <a:spcPct val="164977"/>
              </a:lnSpc>
              <a:spcBef>
                <a:spcPts val="0"/>
              </a:spcBef>
              <a:spcAft>
                <a:spcPts val="0"/>
              </a:spcAft>
              <a:buNone/>
            </a:pPr>
            <a:r>
              <a:rPr lang="en-US" sz="1125" b="0" i="0" u="none" strike="noStrike" cap="none" dirty="0">
                <a:solidFill>
                  <a:srgbClr val="475569"/>
                </a:solidFill>
                <a:latin typeface="Times New Roman" panose="02020603050405020304" pitchFamily="18" charset="0"/>
                <a:ea typeface="Lato"/>
                <a:cs typeface="Times New Roman" panose="02020603050405020304" pitchFamily="18" charset="0"/>
                <a:sym typeface="Lato"/>
              </a:rPr>
              <a:t>Develop an automated AI system to analyze legal case filings, identify underlying legal issues, and classify applicable Acts and sections. Leveraging LLM and RAG techniques, the system provides accurate, explainable classifications to assist legal research.</a:t>
            </a:r>
            <a:endParaRPr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771B89D5-378E-9AF4-4C6A-7D0820D01DA6}"/>
              </a:ext>
            </a:extLst>
          </p:cNvPr>
          <p:cNvSpPr txBox="1"/>
          <p:nvPr/>
        </p:nvSpPr>
        <p:spPr>
          <a:xfrm>
            <a:off x="493633" y="4066180"/>
            <a:ext cx="6169842" cy="307777"/>
          </a:xfrm>
          <a:prstGeom prst="rect">
            <a:avLst/>
          </a:prstGeom>
          <a:noFill/>
        </p:spPr>
        <p:txBody>
          <a:bodyPr wrap="square">
            <a:spAutoFit/>
          </a:bodyPr>
          <a:lstStyle/>
          <a:p>
            <a:pPr marL="0" marR="0" lvl="0" indent="0" algn="just" rtl="0">
              <a:spcBef>
                <a:spcPts val="0"/>
              </a:spcBef>
              <a:spcAft>
                <a:spcPts val="0"/>
              </a:spcAft>
              <a:buNone/>
            </a:pPr>
            <a:r>
              <a:rPr lang="en-US" sz="1400" b="1" i="0" u="none" strike="noStrike" cap="none" dirty="0" err="1">
                <a:solidFill>
                  <a:srgbClr val="0F172A"/>
                </a:solidFill>
                <a:latin typeface="Times New Roman" panose="02020603050405020304" pitchFamily="18" charset="0"/>
                <a:ea typeface="Poppins SemiBold"/>
                <a:cs typeface="Times New Roman" panose="02020603050405020304" pitchFamily="18" charset="0"/>
                <a:sym typeface="Poppins SemiBold"/>
              </a:rPr>
              <a:t>KanoonGPT</a:t>
            </a:r>
            <a:r>
              <a:rPr lang="en-US" sz="1400" b="1" i="0" u="none" strike="noStrike" cap="none" dirty="0">
                <a:solidFill>
                  <a:srgbClr val="0F172A"/>
                </a:solidFill>
                <a:latin typeface="Times New Roman" panose="02020603050405020304" pitchFamily="18" charset="0"/>
                <a:ea typeface="Poppins SemiBold"/>
                <a:cs typeface="Times New Roman" panose="02020603050405020304" pitchFamily="18" charset="0"/>
                <a:sym typeface="Poppins SemiBold"/>
              </a:rPr>
              <a:t> – Indian Case Laws</a:t>
            </a: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A8E36B9C-5AA7-DAC5-0482-5C543C79D6FF}"/>
              </a:ext>
            </a:extLst>
          </p:cNvPr>
          <p:cNvSpPr txBox="1"/>
          <p:nvPr/>
        </p:nvSpPr>
        <p:spPr>
          <a:xfrm>
            <a:off x="493633" y="5567376"/>
            <a:ext cx="6094428" cy="307777"/>
          </a:xfrm>
          <a:prstGeom prst="rect">
            <a:avLst/>
          </a:prstGeom>
          <a:noFill/>
        </p:spPr>
        <p:txBody>
          <a:bodyPr wrap="square">
            <a:spAutoFit/>
          </a:bodyPr>
          <a:lstStyle/>
          <a:p>
            <a:pPr marL="0" marR="0" lvl="0" indent="0" algn="just" rtl="0">
              <a:spcBef>
                <a:spcPts val="0"/>
              </a:spcBef>
              <a:spcAft>
                <a:spcPts val="0"/>
              </a:spcAft>
              <a:buNone/>
            </a:pPr>
            <a:r>
              <a:rPr lang="en-US" sz="1400" b="1" i="0" u="none" strike="noStrike" cap="none" dirty="0" err="1">
                <a:solidFill>
                  <a:srgbClr val="0F172A"/>
                </a:solidFill>
                <a:latin typeface="Times New Roman" panose="02020603050405020304" pitchFamily="18" charset="0"/>
                <a:ea typeface="Poppins SemiBold"/>
                <a:cs typeface="Times New Roman" panose="02020603050405020304" pitchFamily="18" charset="0"/>
                <a:sym typeface="Poppins SemiBold"/>
              </a:rPr>
              <a:t>IndiaCode</a:t>
            </a:r>
            <a:r>
              <a:rPr lang="en-US" sz="1400" b="1" i="0" u="none" strike="noStrike" cap="none" dirty="0">
                <a:solidFill>
                  <a:srgbClr val="0F172A"/>
                </a:solidFill>
                <a:latin typeface="Times New Roman" panose="02020603050405020304" pitchFamily="18" charset="0"/>
                <a:ea typeface="Poppins SemiBold"/>
                <a:cs typeface="Times New Roman" panose="02020603050405020304" pitchFamily="18" charset="0"/>
                <a:sym typeface="Poppins SemiBold"/>
              </a:rPr>
              <a:t> – Acts &amp; Sections</a:t>
            </a:r>
            <a:endParaRPr lang="en-US"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9F760241-EF02-84C7-E099-ABA3048DE372}"/>
              </a:ext>
            </a:extLst>
          </p:cNvPr>
          <p:cNvSpPr txBox="1"/>
          <p:nvPr/>
        </p:nvSpPr>
        <p:spPr>
          <a:xfrm>
            <a:off x="571500" y="4355130"/>
            <a:ext cx="5395667" cy="1082412"/>
          </a:xfrm>
          <a:prstGeom prst="rect">
            <a:avLst/>
          </a:prstGeom>
          <a:noFill/>
        </p:spPr>
        <p:txBody>
          <a:bodyPr wrap="square">
            <a:spAutoFit/>
          </a:bodyPr>
          <a:lstStyle/>
          <a:p>
            <a:pPr marL="0" marR="0" lvl="0" indent="0" algn="just" rtl="0">
              <a:lnSpc>
                <a:spcPct val="160000"/>
              </a:lnSpc>
              <a:spcBef>
                <a:spcPts val="0"/>
              </a:spcBef>
              <a:spcAft>
                <a:spcPts val="0"/>
              </a:spcAft>
              <a:buNone/>
            </a:pPr>
            <a:r>
              <a:rPr lang="en-GB" sz="1400" b="0" i="0" u="none" strike="noStrike" cap="none" dirty="0">
                <a:solidFill>
                  <a:srgbClr val="475569"/>
                </a:solidFill>
                <a:latin typeface="Times New Roman" panose="02020603050405020304" pitchFamily="18" charset="0"/>
                <a:ea typeface="Lato"/>
                <a:cs typeface="Times New Roman" panose="02020603050405020304" pitchFamily="18" charset="0"/>
                <a:sym typeface="Lato"/>
              </a:rPr>
              <a:t>Large collection of Supreme Court and High Court judgments, summaries, and court decisions. Used to retrieve similar precedents and judicial reasoning.</a:t>
            </a:r>
            <a:endParaRPr lang="en-GB"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611C31F1-26A3-DF89-96D4-4F4B79C624ED}"/>
              </a:ext>
            </a:extLst>
          </p:cNvPr>
          <p:cNvSpPr txBox="1"/>
          <p:nvPr/>
        </p:nvSpPr>
        <p:spPr>
          <a:xfrm>
            <a:off x="493633" y="5823239"/>
            <a:ext cx="6094428" cy="735907"/>
          </a:xfrm>
          <a:prstGeom prst="rect">
            <a:avLst/>
          </a:prstGeom>
          <a:noFill/>
        </p:spPr>
        <p:txBody>
          <a:bodyPr wrap="square">
            <a:spAutoFit/>
          </a:bodyPr>
          <a:lstStyle/>
          <a:p>
            <a:pPr marL="0" marR="0" lvl="0" indent="0" algn="just" rtl="0">
              <a:lnSpc>
                <a:spcPct val="160000"/>
              </a:lnSpc>
              <a:spcBef>
                <a:spcPts val="0"/>
              </a:spcBef>
              <a:spcAft>
                <a:spcPts val="0"/>
              </a:spcAft>
              <a:buNone/>
            </a:pPr>
            <a:r>
              <a:rPr lang="en-GB" sz="1400" b="0" i="0" u="none" strike="noStrike" cap="none" dirty="0">
                <a:solidFill>
                  <a:srgbClr val="475569"/>
                </a:solidFill>
                <a:latin typeface="Times New Roman" panose="02020603050405020304" pitchFamily="18" charset="0"/>
                <a:ea typeface="Lato"/>
                <a:cs typeface="Times New Roman" panose="02020603050405020304" pitchFamily="18" charset="0"/>
                <a:sym typeface="Lato"/>
              </a:rPr>
              <a:t>Structured repository of Indian Central Acts and section details. Serves as the primary statutory knowledge base for identifying applicable provisions.</a:t>
            </a:r>
            <a:endParaRPr lang="en-GB" dirty="0">
              <a:latin typeface="Times New Roman" panose="02020603050405020304" pitchFamily="18" charset="0"/>
              <a:cs typeface="Times New Roman" panose="02020603050405020304" pitchFamily="18" charset="0"/>
            </a:endParaRPr>
          </a:p>
        </p:txBody>
      </p:sp>
      <p:graphicFrame>
        <p:nvGraphicFramePr>
          <p:cNvPr id="23" name="Table 22">
            <a:extLst>
              <a:ext uri="{FF2B5EF4-FFF2-40B4-BE49-F238E27FC236}">
                <a16:creationId xmlns:a16="http://schemas.microsoft.com/office/drawing/2014/main" id="{11E25026-6810-9C05-2F20-AB3D81E2CF8A}"/>
              </a:ext>
            </a:extLst>
          </p:cNvPr>
          <p:cNvGraphicFramePr>
            <a:graphicFrameLocks noGrp="1"/>
          </p:cNvGraphicFramePr>
          <p:nvPr>
            <p:extLst>
              <p:ext uri="{D42A27DB-BD31-4B8C-83A1-F6EECF244321}">
                <p14:modId xmlns:p14="http://schemas.microsoft.com/office/powerpoint/2010/main" val="3897172056"/>
              </p:ext>
            </p:extLst>
          </p:nvPr>
        </p:nvGraphicFramePr>
        <p:xfrm>
          <a:off x="6500812" y="4149327"/>
          <a:ext cx="4923590" cy="2481055"/>
        </p:xfrm>
        <a:graphic>
          <a:graphicData uri="http://schemas.openxmlformats.org/drawingml/2006/table">
            <a:tbl>
              <a:tblPr firstRow="1" bandRow="1">
                <a:noFill/>
              </a:tblPr>
              <a:tblGrid>
                <a:gridCol w="1171039">
                  <a:extLst>
                    <a:ext uri="{9D8B030D-6E8A-4147-A177-3AD203B41FA5}">
                      <a16:colId xmlns:a16="http://schemas.microsoft.com/office/drawing/2014/main" val="4056372153"/>
                    </a:ext>
                  </a:extLst>
                </a:gridCol>
                <a:gridCol w="1677875">
                  <a:extLst>
                    <a:ext uri="{9D8B030D-6E8A-4147-A177-3AD203B41FA5}">
                      <a16:colId xmlns:a16="http://schemas.microsoft.com/office/drawing/2014/main" val="3669015549"/>
                    </a:ext>
                  </a:extLst>
                </a:gridCol>
                <a:gridCol w="2074676">
                  <a:extLst>
                    <a:ext uri="{9D8B030D-6E8A-4147-A177-3AD203B41FA5}">
                      <a16:colId xmlns:a16="http://schemas.microsoft.com/office/drawing/2014/main" val="3333429480"/>
                    </a:ext>
                  </a:extLst>
                </a:gridCol>
              </a:tblGrid>
              <a:tr h="496211">
                <a:tc>
                  <a:txBody>
                    <a:bodyPr/>
                    <a:lstStyle/>
                    <a:p>
                      <a:pPr marL="0" marR="0" lvl="0" indent="0" algn="l" rtl="0">
                        <a:spcBef>
                          <a:spcPts val="0"/>
                        </a:spcBef>
                        <a:spcAft>
                          <a:spcPts val="0"/>
                        </a:spcAft>
                        <a:buNone/>
                      </a:pPr>
                      <a:r>
                        <a:rPr lang="en-US" sz="1125" b="0" i="0" u="none" strike="noStrike" cap="none">
                          <a:solidFill>
                            <a:srgbClr val="FFFFFF"/>
                          </a:solidFill>
                          <a:latin typeface="Poppins SemiBold"/>
                          <a:ea typeface="Poppins SemiBold"/>
                          <a:cs typeface="Poppins SemiBold"/>
                          <a:sym typeface="Poppins SemiBold"/>
                        </a:rPr>
                        <a:t>Component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125" b="0" i="0" u="none" strike="noStrike" cap="none">
                          <a:solidFill>
                            <a:srgbClr val="FFFFFF"/>
                          </a:solidFill>
                          <a:latin typeface="Poppins SemiBold"/>
                          <a:ea typeface="Poppins SemiBold"/>
                          <a:cs typeface="Poppins SemiBold"/>
                          <a:sym typeface="Poppins SemiBold"/>
                        </a:rPr>
                        <a:t>Technology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125" b="0" i="0" u="none" strike="noStrike" cap="none" dirty="0">
                          <a:solidFill>
                            <a:srgbClr val="FFFFFF"/>
                          </a:solidFill>
                          <a:latin typeface="Poppins SemiBold"/>
                          <a:ea typeface="Poppins SemiBold"/>
                          <a:cs typeface="Poppins SemiBold"/>
                          <a:sym typeface="Poppins SemiBold"/>
                        </a:rPr>
                        <a:t>Purpose</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extLst>
                  <a:ext uri="{0D108BD9-81ED-4DB2-BD59-A6C34878D82A}">
                    <a16:rowId xmlns:a16="http://schemas.microsoft.com/office/drawing/2014/main" val="677337663"/>
                  </a:ext>
                </a:extLst>
              </a:tr>
              <a:tr h="496211">
                <a:tc>
                  <a:txBody>
                    <a:bodyPr/>
                    <a:lstStyle/>
                    <a:p>
                      <a:pPr marL="0" marR="0" lvl="0" indent="0" algn="l" rtl="0">
                        <a:spcBef>
                          <a:spcPts val="0"/>
                        </a:spcBef>
                        <a:spcAft>
                          <a:spcPts val="0"/>
                        </a:spcAft>
                        <a:buNone/>
                      </a:pPr>
                      <a:r>
                        <a:rPr lang="en-US" sz="1050" b="1" i="0" u="none" strike="noStrike" cap="none">
                          <a:solidFill>
                            <a:srgbClr val="334155"/>
                          </a:solidFill>
                          <a:latin typeface="Lato"/>
                          <a:ea typeface="Lato"/>
                          <a:cs typeface="Lato"/>
                          <a:sym typeface="Lato"/>
                        </a:rPr>
                        <a:t>LLM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dirty="0">
                          <a:solidFill>
                            <a:srgbClr val="334155"/>
                          </a:solidFill>
                          <a:latin typeface="Lato"/>
                          <a:ea typeface="Lato"/>
                          <a:cs typeface="Lato"/>
                          <a:sym typeface="Lato"/>
                        </a:rPr>
                        <a:t>Llama 3.1 8B Instruct / Gemini-Flash</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334155"/>
                          </a:solidFill>
                          <a:latin typeface="Lato"/>
                          <a:ea typeface="Lato"/>
                          <a:cs typeface="Lato"/>
                          <a:sym typeface="Lato"/>
                        </a:rPr>
                        <a:t>Analyzes legal context and generates explainable output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615084406"/>
                  </a:ext>
                </a:extLst>
              </a:tr>
              <a:tr h="496211">
                <a:tc>
                  <a:txBody>
                    <a:bodyPr/>
                    <a:lstStyle/>
                    <a:p>
                      <a:pPr marL="0" marR="0" lvl="0" indent="0" algn="l" rtl="0">
                        <a:spcBef>
                          <a:spcPts val="0"/>
                        </a:spcBef>
                        <a:spcAft>
                          <a:spcPts val="0"/>
                        </a:spcAft>
                        <a:buNone/>
                      </a:pPr>
                      <a:r>
                        <a:rPr lang="en-US" sz="1050" b="1" i="0" u="none" strike="noStrike" cap="none">
                          <a:solidFill>
                            <a:srgbClr val="334155"/>
                          </a:solidFill>
                          <a:latin typeface="Lato"/>
                          <a:ea typeface="Lato"/>
                          <a:cs typeface="Lato"/>
                          <a:sym typeface="Lato"/>
                        </a:rPr>
                        <a:t>Embedding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334155"/>
                          </a:solidFill>
                          <a:latin typeface="Lato"/>
                          <a:ea typeface="Lato"/>
                          <a:cs typeface="Lato"/>
                          <a:sym typeface="Lato"/>
                        </a:rPr>
                        <a:t>BAAI/bge-small-en-v1.5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334155"/>
                          </a:solidFill>
                          <a:latin typeface="Lato"/>
                          <a:ea typeface="Lato"/>
                          <a:cs typeface="Lato"/>
                          <a:sym typeface="Lato"/>
                        </a:rPr>
                        <a:t>Converts case text &amp; provisions into numerical vectors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877383348"/>
                  </a:ext>
                </a:extLst>
              </a:tr>
              <a:tr h="496211">
                <a:tc>
                  <a:txBody>
                    <a:bodyPr/>
                    <a:lstStyle/>
                    <a:p>
                      <a:pPr marL="0" marR="0" lvl="0" indent="0" algn="l" rtl="0">
                        <a:spcBef>
                          <a:spcPts val="0"/>
                        </a:spcBef>
                        <a:spcAft>
                          <a:spcPts val="0"/>
                        </a:spcAft>
                        <a:buNone/>
                      </a:pPr>
                      <a:r>
                        <a:rPr lang="en-US" sz="1050" b="1" i="0" u="none" strike="noStrike" cap="none">
                          <a:solidFill>
                            <a:srgbClr val="334155"/>
                          </a:solidFill>
                          <a:latin typeface="Lato"/>
                          <a:ea typeface="Lato"/>
                          <a:cs typeface="Lato"/>
                          <a:sym typeface="Lato"/>
                        </a:rPr>
                        <a:t>RAG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334155"/>
                          </a:solidFill>
                          <a:latin typeface="Lato"/>
                          <a:ea typeface="Lato"/>
                          <a:cs typeface="Lato"/>
                          <a:sym typeface="Lato"/>
                        </a:rPr>
                        <a:t>LangChain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334155"/>
                          </a:solidFill>
                          <a:latin typeface="Lato"/>
                          <a:ea typeface="Lato"/>
                          <a:cs typeface="Lato"/>
                          <a:sym typeface="Lato"/>
                        </a:rPr>
                        <a:t>Retrieves relevant statutory provisions &amp; case laws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3738052342"/>
                  </a:ext>
                </a:extLst>
              </a:tr>
              <a:tr h="496211">
                <a:tc>
                  <a:txBody>
                    <a:bodyPr/>
                    <a:lstStyle/>
                    <a:p>
                      <a:pPr marL="0" marR="0" lvl="0" indent="0" algn="l" rtl="0">
                        <a:spcBef>
                          <a:spcPts val="0"/>
                        </a:spcBef>
                        <a:spcAft>
                          <a:spcPts val="0"/>
                        </a:spcAft>
                        <a:buNone/>
                      </a:pPr>
                      <a:r>
                        <a:rPr lang="en-US" sz="1050" b="1" i="0" u="none" strike="noStrike" cap="none">
                          <a:solidFill>
                            <a:srgbClr val="334155"/>
                          </a:solidFill>
                          <a:latin typeface="Lato"/>
                          <a:ea typeface="Lato"/>
                          <a:cs typeface="Lato"/>
                          <a:sym typeface="Lato"/>
                        </a:rPr>
                        <a:t>Vector DB</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dirty="0">
                          <a:solidFill>
                            <a:srgbClr val="334155"/>
                          </a:solidFill>
                          <a:latin typeface="Lato"/>
                          <a:ea typeface="Lato"/>
                          <a:cs typeface="Lato"/>
                          <a:sym typeface="Lato"/>
                        </a:rPr>
                        <a:t>FAISS</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dirty="0">
                          <a:solidFill>
                            <a:srgbClr val="334155"/>
                          </a:solidFill>
                          <a:latin typeface="Lato"/>
                          <a:ea typeface="Lato"/>
                          <a:cs typeface="Lato"/>
                          <a:sym typeface="Lato"/>
                        </a:rPr>
                        <a:t>Stores embeddings and executes fast similarity searches</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3723028781"/>
                  </a:ext>
                </a:extLst>
              </a:tr>
            </a:tbl>
          </a:graphicData>
        </a:graphic>
      </p:graphicFrame>
      <p:sp>
        <p:nvSpPr>
          <p:cNvPr id="25" name="TextBox 24">
            <a:extLst>
              <a:ext uri="{FF2B5EF4-FFF2-40B4-BE49-F238E27FC236}">
                <a16:creationId xmlns:a16="http://schemas.microsoft.com/office/drawing/2014/main" id="{30178E0D-52E3-0637-0511-7B3F7F34D0DB}"/>
              </a:ext>
            </a:extLst>
          </p:cNvPr>
          <p:cNvSpPr txBox="1"/>
          <p:nvPr/>
        </p:nvSpPr>
        <p:spPr>
          <a:xfrm>
            <a:off x="122548" y="3789575"/>
            <a:ext cx="6618794" cy="307777"/>
          </a:xfrm>
          <a:prstGeom prst="rect">
            <a:avLst/>
          </a:prstGeom>
          <a:noFill/>
        </p:spPr>
        <p:txBody>
          <a:bodyPr wrap="square">
            <a:spAutoFit/>
          </a:bodyPr>
          <a:lstStyle/>
          <a:p>
            <a:pPr algn="just"/>
            <a:r>
              <a:rPr lang="en-GB" b="1" dirty="0">
                <a:latin typeface="Times New Roman" panose="02020603050405020304" pitchFamily="18" charset="0"/>
                <a:cs typeface="Times New Roman" panose="02020603050405020304" pitchFamily="18" charset="0"/>
              </a:rPr>
              <a:t>Datasets</a:t>
            </a:r>
            <a:endParaRPr lang="en-IN" b="1"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F19B7275-7FBB-8A4C-A0AC-927EAC0B5D5A}"/>
              </a:ext>
            </a:extLst>
          </p:cNvPr>
          <p:cNvSpPr txBox="1"/>
          <p:nvPr/>
        </p:nvSpPr>
        <p:spPr>
          <a:xfrm>
            <a:off x="5851445" y="3603531"/>
            <a:ext cx="6094428" cy="738664"/>
          </a:xfrm>
          <a:prstGeom prst="rect">
            <a:avLst/>
          </a:prstGeom>
          <a:noFill/>
        </p:spPr>
        <p:txBody>
          <a:bodyPr wrap="square">
            <a:spAutoFit/>
          </a:bodyPr>
          <a:lstStyle/>
          <a:p>
            <a:pPr algn="just"/>
            <a:endParaRPr lang="en-GB" sz="1400" b="1" dirty="0">
              <a:latin typeface="Times New Roman" panose="02020603050405020304" pitchFamily="18" charset="0"/>
              <a:cs typeface="Times New Roman" panose="02020603050405020304" pitchFamily="18" charset="0"/>
            </a:endParaRPr>
          </a:p>
          <a:p>
            <a:pPr algn="just"/>
            <a:r>
              <a:rPr lang="en-GB" sz="1400" b="1" dirty="0">
                <a:latin typeface="Times New Roman" panose="02020603050405020304" pitchFamily="18" charset="0"/>
                <a:cs typeface="Times New Roman" panose="02020603050405020304" pitchFamily="18" charset="0"/>
              </a:rPr>
              <a:t>Technical Stack</a:t>
            </a:r>
          </a:p>
          <a:p>
            <a:pPr algn="just"/>
            <a:endParaRPr lang="en-IN" sz="1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19"/>
        <p:cNvGrpSpPr/>
        <p:nvPr/>
      </p:nvGrpSpPr>
      <p:grpSpPr>
        <a:xfrm>
          <a:off x="0" y="0"/>
          <a:ext cx="0" cy="0"/>
          <a:chOff x="0" y="0"/>
          <a:chExt cx="0" cy="0"/>
        </a:xfrm>
      </p:grpSpPr>
      <p:pic>
        <p:nvPicPr>
          <p:cNvPr id="2" name="Google Shape;120;p15" descr="image.png">
            <a:extLst>
              <a:ext uri="{FF2B5EF4-FFF2-40B4-BE49-F238E27FC236}">
                <a16:creationId xmlns:a16="http://schemas.microsoft.com/office/drawing/2014/main" id="{8A00DBAF-CE2C-A975-2AAD-07C9A500390E}"/>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3" name="Google Shape;121;p15" descr="image.png">
            <a:extLst>
              <a:ext uri="{FF2B5EF4-FFF2-40B4-BE49-F238E27FC236}">
                <a16:creationId xmlns:a16="http://schemas.microsoft.com/office/drawing/2014/main" id="{533DC57E-08CF-7F02-EF24-0F69FAB6E15E}"/>
              </a:ext>
            </a:extLst>
          </p:cNvPr>
          <p:cNvPicPr preferRelativeResize="0"/>
          <p:nvPr/>
        </p:nvPicPr>
        <p:blipFill rotWithShape="1">
          <a:blip r:embed="rId3">
            <a:alphaModFix/>
          </a:blip>
          <a:srcRect/>
          <a:stretch/>
        </p:blipFill>
        <p:spPr>
          <a:xfrm>
            <a:off x="571500" y="2647950"/>
            <a:ext cx="5357812" cy="857250"/>
          </a:xfrm>
          <a:prstGeom prst="rect">
            <a:avLst/>
          </a:prstGeom>
          <a:noFill/>
          <a:ln>
            <a:noFill/>
          </a:ln>
        </p:spPr>
      </p:pic>
      <p:pic>
        <p:nvPicPr>
          <p:cNvPr id="4" name="Google Shape;122;p15" descr="image.png">
            <a:extLst>
              <a:ext uri="{FF2B5EF4-FFF2-40B4-BE49-F238E27FC236}">
                <a16:creationId xmlns:a16="http://schemas.microsoft.com/office/drawing/2014/main" id="{BB3BD05E-6B01-E76C-4D29-DDE0DFE56281}"/>
              </a:ext>
            </a:extLst>
          </p:cNvPr>
          <p:cNvPicPr preferRelativeResize="0"/>
          <p:nvPr/>
        </p:nvPicPr>
        <p:blipFill rotWithShape="1">
          <a:blip r:embed="rId3">
            <a:alphaModFix/>
          </a:blip>
          <a:srcRect/>
          <a:stretch/>
        </p:blipFill>
        <p:spPr>
          <a:xfrm>
            <a:off x="571500" y="3676650"/>
            <a:ext cx="5357812" cy="857250"/>
          </a:xfrm>
          <a:prstGeom prst="rect">
            <a:avLst/>
          </a:prstGeom>
          <a:noFill/>
          <a:ln>
            <a:noFill/>
          </a:ln>
        </p:spPr>
      </p:pic>
      <p:pic>
        <p:nvPicPr>
          <p:cNvPr id="5" name="Google Shape;123;p15" descr="image.png">
            <a:extLst>
              <a:ext uri="{FF2B5EF4-FFF2-40B4-BE49-F238E27FC236}">
                <a16:creationId xmlns:a16="http://schemas.microsoft.com/office/drawing/2014/main" id="{47F02401-5473-96B6-A0C1-6DD946445176}"/>
              </a:ext>
            </a:extLst>
          </p:cNvPr>
          <p:cNvPicPr preferRelativeResize="0"/>
          <p:nvPr/>
        </p:nvPicPr>
        <p:blipFill rotWithShape="1">
          <a:blip r:embed="rId4">
            <a:alphaModFix/>
          </a:blip>
          <a:srcRect/>
          <a:stretch/>
        </p:blipFill>
        <p:spPr>
          <a:xfrm>
            <a:off x="571500" y="4705350"/>
            <a:ext cx="5357812" cy="857250"/>
          </a:xfrm>
          <a:prstGeom prst="rect">
            <a:avLst/>
          </a:prstGeom>
          <a:noFill/>
          <a:ln>
            <a:noFill/>
          </a:ln>
        </p:spPr>
      </p:pic>
      <p:pic>
        <p:nvPicPr>
          <p:cNvPr id="6" name="Google Shape;124;p15" descr="image.png">
            <a:extLst>
              <a:ext uri="{FF2B5EF4-FFF2-40B4-BE49-F238E27FC236}">
                <a16:creationId xmlns:a16="http://schemas.microsoft.com/office/drawing/2014/main" id="{EC151A71-BFE6-3FFC-A07E-9A271FEC9DF5}"/>
              </a:ext>
            </a:extLst>
          </p:cNvPr>
          <p:cNvPicPr preferRelativeResize="0"/>
          <p:nvPr/>
        </p:nvPicPr>
        <p:blipFill rotWithShape="1">
          <a:blip r:embed="rId5">
            <a:alphaModFix/>
          </a:blip>
          <a:srcRect/>
          <a:stretch/>
        </p:blipFill>
        <p:spPr>
          <a:xfrm>
            <a:off x="6262687" y="2647950"/>
            <a:ext cx="5357812" cy="2693491"/>
          </a:xfrm>
          <a:prstGeom prst="rect">
            <a:avLst/>
          </a:prstGeom>
          <a:noFill/>
          <a:ln>
            <a:noFill/>
          </a:ln>
        </p:spPr>
      </p:pic>
      <p:sp>
        <p:nvSpPr>
          <p:cNvPr id="7" name="Google Shape;125;p15">
            <a:extLst>
              <a:ext uri="{FF2B5EF4-FFF2-40B4-BE49-F238E27FC236}">
                <a16:creationId xmlns:a16="http://schemas.microsoft.com/office/drawing/2014/main" id="{66200ED8-D869-36EF-685F-AB3D0D56AC14}"/>
              </a:ext>
            </a:extLst>
          </p:cNvPr>
          <p:cNvSpPr txBox="1"/>
          <p:nvPr/>
        </p:nvSpPr>
        <p:spPr>
          <a:xfrm>
            <a:off x="571500" y="2038350"/>
            <a:ext cx="5625703" cy="230832"/>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500" b="0" i="0" u="none" strike="noStrike" cap="none">
                <a:solidFill>
                  <a:srgbClr val="0F172A"/>
                </a:solidFill>
                <a:latin typeface="Times New Roman" panose="02020603050405020304" pitchFamily="18" charset="0"/>
                <a:ea typeface="Poppins SemiBold"/>
                <a:cs typeface="Times New Roman" panose="02020603050405020304" pitchFamily="18" charset="0"/>
                <a:sym typeface="Poppins SemiBold"/>
              </a:rPr>
              <a:t>Core Capabilities</a:t>
            </a:r>
            <a:endParaRPr>
              <a:latin typeface="Times New Roman" panose="02020603050405020304" pitchFamily="18" charset="0"/>
              <a:cs typeface="Times New Roman" panose="02020603050405020304" pitchFamily="18" charset="0"/>
            </a:endParaRPr>
          </a:p>
        </p:txBody>
      </p:sp>
      <p:sp>
        <p:nvSpPr>
          <p:cNvPr id="8" name="Google Shape;126;p15">
            <a:extLst>
              <a:ext uri="{FF2B5EF4-FFF2-40B4-BE49-F238E27FC236}">
                <a16:creationId xmlns:a16="http://schemas.microsoft.com/office/drawing/2014/main" id="{F6BFD3FC-1F41-A815-36D5-473966E7B7C4}"/>
              </a:ext>
            </a:extLst>
          </p:cNvPr>
          <p:cNvSpPr/>
          <p:nvPr/>
        </p:nvSpPr>
        <p:spPr>
          <a:xfrm>
            <a:off x="571500" y="2419350"/>
            <a:ext cx="5357812"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9" name="Google Shape;127;p15">
            <a:extLst>
              <a:ext uri="{FF2B5EF4-FFF2-40B4-BE49-F238E27FC236}">
                <a16:creationId xmlns:a16="http://schemas.microsoft.com/office/drawing/2014/main" id="{395C9886-62A1-388A-094C-0276309CE97F}"/>
              </a:ext>
            </a:extLst>
          </p:cNvPr>
          <p:cNvSpPr txBox="1"/>
          <p:nvPr/>
        </p:nvSpPr>
        <p:spPr>
          <a:xfrm>
            <a:off x="6262687" y="2038350"/>
            <a:ext cx="5625703" cy="230832"/>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500" b="0" i="0" u="none" strike="noStrike" cap="none">
                <a:solidFill>
                  <a:srgbClr val="0F172A"/>
                </a:solidFill>
                <a:latin typeface="Times New Roman" panose="02020603050405020304" pitchFamily="18" charset="0"/>
                <a:ea typeface="Poppins SemiBold"/>
                <a:cs typeface="Times New Roman" panose="02020603050405020304" pitchFamily="18" charset="0"/>
                <a:sym typeface="Poppins SemiBold"/>
              </a:rPr>
              <a:t>Case Demonstration</a:t>
            </a:r>
            <a:endParaRPr>
              <a:latin typeface="Times New Roman" panose="02020603050405020304" pitchFamily="18" charset="0"/>
              <a:cs typeface="Times New Roman" panose="02020603050405020304" pitchFamily="18" charset="0"/>
            </a:endParaRPr>
          </a:p>
        </p:txBody>
      </p:sp>
      <p:sp>
        <p:nvSpPr>
          <p:cNvPr id="10" name="Google Shape;128;p15">
            <a:extLst>
              <a:ext uri="{FF2B5EF4-FFF2-40B4-BE49-F238E27FC236}">
                <a16:creationId xmlns:a16="http://schemas.microsoft.com/office/drawing/2014/main" id="{9B2FA754-3916-A9F7-77AD-2DE6D0260EAF}"/>
              </a:ext>
            </a:extLst>
          </p:cNvPr>
          <p:cNvSpPr/>
          <p:nvPr/>
        </p:nvSpPr>
        <p:spPr>
          <a:xfrm>
            <a:off x="6262687" y="2419350"/>
            <a:ext cx="5357812"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1" name="Google Shape;129;p15">
            <a:extLst>
              <a:ext uri="{FF2B5EF4-FFF2-40B4-BE49-F238E27FC236}">
                <a16:creationId xmlns:a16="http://schemas.microsoft.com/office/drawing/2014/main" id="{53CAD109-14EB-F8BE-CA4C-9C9D4EB5AA28}"/>
              </a:ext>
            </a:extLst>
          </p:cNvPr>
          <p:cNvSpPr txBox="1"/>
          <p:nvPr/>
        </p:nvSpPr>
        <p:spPr>
          <a:xfrm>
            <a:off x="790575" y="2828925"/>
            <a:ext cx="5165645" cy="184666"/>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200" b="0" i="0" u="none" strike="noStrike" cap="none">
                <a:solidFill>
                  <a:srgbClr val="0F172A"/>
                </a:solidFill>
                <a:latin typeface="Times New Roman" panose="02020603050405020304" pitchFamily="18" charset="0"/>
                <a:ea typeface="Poppins SemiBold"/>
                <a:cs typeface="Times New Roman" panose="02020603050405020304" pitchFamily="18" charset="0"/>
                <a:sym typeface="Poppins SemiBold"/>
              </a:rPr>
              <a:t>Legal Issue Identification</a:t>
            </a:r>
            <a:endParaRPr>
              <a:latin typeface="Times New Roman" panose="02020603050405020304" pitchFamily="18" charset="0"/>
              <a:cs typeface="Times New Roman" panose="02020603050405020304" pitchFamily="18" charset="0"/>
            </a:endParaRPr>
          </a:p>
        </p:txBody>
      </p:sp>
      <p:sp>
        <p:nvSpPr>
          <p:cNvPr id="12" name="Google Shape;130;p15">
            <a:extLst>
              <a:ext uri="{FF2B5EF4-FFF2-40B4-BE49-F238E27FC236}">
                <a16:creationId xmlns:a16="http://schemas.microsoft.com/office/drawing/2014/main" id="{70C9C544-78DB-D051-770B-37F8D784A757}"/>
              </a:ext>
            </a:extLst>
          </p:cNvPr>
          <p:cNvSpPr txBox="1"/>
          <p:nvPr/>
        </p:nvSpPr>
        <p:spPr>
          <a:xfrm>
            <a:off x="790575" y="3124200"/>
            <a:ext cx="4919662" cy="242374"/>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1050" b="0" i="0" u="none" strike="noStrike" cap="none">
                <a:solidFill>
                  <a:srgbClr val="475569"/>
                </a:solidFill>
                <a:latin typeface="Times New Roman" panose="02020603050405020304" pitchFamily="18" charset="0"/>
                <a:ea typeface="Lato"/>
                <a:cs typeface="Times New Roman" panose="02020603050405020304" pitchFamily="18" charset="0"/>
                <a:sym typeface="Lato"/>
              </a:rPr>
              <a:t>Automated extraction of legal issues directly from raw case text.</a:t>
            </a:r>
            <a:endParaRPr>
              <a:latin typeface="Times New Roman" panose="02020603050405020304" pitchFamily="18" charset="0"/>
              <a:cs typeface="Times New Roman" panose="02020603050405020304" pitchFamily="18" charset="0"/>
            </a:endParaRPr>
          </a:p>
        </p:txBody>
      </p:sp>
      <p:sp>
        <p:nvSpPr>
          <p:cNvPr id="13" name="Google Shape;131;p15">
            <a:extLst>
              <a:ext uri="{FF2B5EF4-FFF2-40B4-BE49-F238E27FC236}">
                <a16:creationId xmlns:a16="http://schemas.microsoft.com/office/drawing/2014/main" id="{FC928428-E487-6596-15E6-979AE1E0DB56}"/>
              </a:ext>
            </a:extLst>
          </p:cNvPr>
          <p:cNvSpPr txBox="1"/>
          <p:nvPr/>
        </p:nvSpPr>
        <p:spPr>
          <a:xfrm>
            <a:off x="790575" y="3857625"/>
            <a:ext cx="5165645" cy="184666"/>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200" b="0" i="0" u="none" strike="noStrike" cap="none">
                <a:solidFill>
                  <a:srgbClr val="0F172A"/>
                </a:solidFill>
                <a:latin typeface="Times New Roman" panose="02020603050405020304" pitchFamily="18" charset="0"/>
                <a:ea typeface="Poppins SemiBold"/>
                <a:cs typeface="Times New Roman" panose="02020603050405020304" pitchFamily="18" charset="0"/>
                <a:sym typeface="Poppins SemiBold"/>
              </a:rPr>
              <a:t>Act &amp; Section Classification</a:t>
            </a:r>
            <a:endParaRPr>
              <a:latin typeface="Times New Roman" panose="02020603050405020304" pitchFamily="18" charset="0"/>
              <a:cs typeface="Times New Roman" panose="02020603050405020304" pitchFamily="18" charset="0"/>
            </a:endParaRPr>
          </a:p>
        </p:txBody>
      </p:sp>
      <p:sp>
        <p:nvSpPr>
          <p:cNvPr id="14" name="Google Shape;132;p15">
            <a:extLst>
              <a:ext uri="{FF2B5EF4-FFF2-40B4-BE49-F238E27FC236}">
                <a16:creationId xmlns:a16="http://schemas.microsoft.com/office/drawing/2014/main" id="{E66E0FF0-7EE3-1C67-6055-E918915EA380}"/>
              </a:ext>
            </a:extLst>
          </p:cNvPr>
          <p:cNvSpPr txBox="1"/>
          <p:nvPr/>
        </p:nvSpPr>
        <p:spPr>
          <a:xfrm>
            <a:off x="790575" y="4152900"/>
            <a:ext cx="4919662" cy="242374"/>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1050" b="0" i="0" u="none" strike="noStrike" cap="none">
                <a:solidFill>
                  <a:srgbClr val="475569"/>
                </a:solidFill>
                <a:latin typeface="Times New Roman" panose="02020603050405020304" pitchFamily="18" charset="0"/>
                <a:ea typeface="Lato"/>
                <a:cs typeface="Times New Roman" panose="02020603050405020304" pitchFamily="18" charset="0"/>
                <a:sym typeface="Lato"/>
              </a:rPr>
              <a:t>Predicts relevant legal provisions and statutory sections accurately.</a:t>
            </a:r>
            <a:endParaRPr>
              <a:latin typeface="Times New Roman" panose="02020603050405020304" pitchFamily="18" charset="0"/>
              <a:cs typeface="Times New Roman" panose="02020603050405020304" pitchFamily="18" charset="0"/>
            </a:endParaRPr>
          </a:p>
        </p:txBody>
      </p:sp>
      <p:sp>
        <p:nvSpPr>
          <p:cNvPr id="15" name="Google Shape;133;p15">
            <a:extLst>
              <a:ext uri="{FF2B5EF4-FFF2-40B4-BE49-F238E27FC236}">
                <a16:creationId xmlns:a16="http://schemas.microsoft.com/office/drawing/2014/main" id="{94707E3C-CC57-F1AE-1E9C-E35E0BD9C763}"/>
              </a:ext>
            </a:extLst>
          </p:cNvPr>
          <p:cNvSpPr txBox="1"/>
          <p:nvPr/>
        </p:nvSpPr>
        <p:spPr>
          <a:xfrm>
            <a:off x="790575" y="4886325"/>
            <a:ext cx="5165645" cy="184666"/>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200" b="0" i="0" u="none" strike="noStrike" cap="none">
                <a:solidFill>
                  <a:srgbClr val="0F172A"/>
                </a:solidFill>
                <a:latin typeface="Times New Roman" panose="02020603050405020304" pitchFamily="18" charset="0"/>
                <a:ea typeface="Poppins SemiBold"/>
                <a:cs typeface="Times New Roman" panose="02020603050405020304" pitchFamily="18" charset="0"/>
                <a:sym typeface="Poppins SemiBold"/>
              </a:rPr>
              <a:t>Explainable RAG Analysis</a:t>
            </a:r>
            <a:endParaRPr>
              <a:latin typeface="Times New Roman" panose="02020603050405020304" pitchFamily="18" charset="0"/>
              <a:cs typeface="Times New Roman" panose="02020603050405020304" pitchFamily="18" charset="0"/>
            </a:endParaRPr>
          </a:p>
        </p:txBody>
      </p:sp>
      <p:sp>
        <p:nvSpPr>
          <p:cNvPr id="16" name="Google Shape;134;p15">
            <a:extLst>
              <a:ext uri="{FF2B5EF4-FFF2-40B4-BE49-F238E27FC236}">
                <a16:creationId xmlns:a16="http://schemas.microsoft.com/office/drawing/2014/main" id="{9399501E-776E-8CB3-FB6E-AC8184682E91}"/>
              </a:ext>
            </a:extLst>
          </p:cNvPr>
          <p:cNvSpPr txBox="1"/>
          <p:nvPr/>
        </p:nvSpPr>
        <p:spPr>
          <a:xfrm>
            <a:off x="790575" y="5181600"/>
            <a:ext cx="4919662" cy="242374"/>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1050" b="0" i="0" u="none" strike="noStrike" cap="none">
                <a:solidFill>
                  <a:srgbClr val="475569"/>
                </a:solidFill>
                <a:latin typeface="Times New Roman" panose="02020603050405020304" pitchFamily="18" charset="0"/>
                <a:ea typeface="Lato"/>
                <a:cs typeface="Times New Roman" panose="02020603050405020304" pitchFamily="18" charset="0"/>
                <a:sym typeface="Lato"/>
              </a:rPr>
              <a:t>Provides evidence-supported explanations backed by similar case precedents.</a:t>
            </a:r>
            <a:endParaRPr>
              <a:latin typeface="Times New Roman" panose="02020603050405020304" pitchFamily="18" charset="0"/>
              <a:cs typeface="Times New Roman" panose="02020603050405020304" pitchFamily="18" charset="0"/>
            </a:endParaRPr>
          </a:p>
        </p:txBody>
      </p:sp>
      <p:pic>
        <p:nvPicPr>
          <p:cNvPr id="17" name="Google Shape;135;p15" descr="image.png">
            <a:extLst>
              <a:ext uri="{FF2B5EF4-FFF2-40B4-BE49-F238E27FC236}">
                <a16:creationId xmlns:a16="http://schemas.microsoft.com/office/drawing/2014/main" id="{72F179BA-3752-000E-243F-4D57FD875A4D}"/>
              </a:ext>
            </a:extLst>
          </p:cNvPr>
          <p:cNvPicPr preferRelativeResize="0"/>
          <p:nvPr/>
        </p:nvPicPr>
        <p:blipFill rotWithShape="1">
          <a:blip r:embed="rId6">
            <a:alphaModFix/>
          </a:blip>
          <a:srcRect/>
          <a:stretch/>
        </p:blipFill>
        <p:spPr>
          <a:xfrm>
            <a:off x="6500812" y="2847975"/>
            <a:ext cx="1357312" cy="200025"/>
          </a:xfrm>
          <a:prstGeom prst="rect">
            <a:avLst/>
          </a:prstGeom>
          <a:noFill/>
          <a:ln>
            <a:noFill/>
          </a:ln>
        </p:spPr>
      </p:pic>
      <p:pic>
        <p:nvPicPr>
          <p:cNvPr id="18" name="Google Shape;136;p15" descr="image.png">
            <a:extLst>
              <a:ext uri="{FF2B5EF4-FFF2-40B4-BE49-F238E27FC236}">
                <a16:creationId xmlns:a16="http://schemas.microsoft.com/office/drawing/2014/main" id="{CF1D008A-51B6-8847-90EB-D49BC68B4D9C}"/>
              </a:ext>
            </a:extLst>
          </p:cNvPr>
          <p:cNvPicPr preferRelativeResize="0"/>
          <p:nvPr/>
        </p:nvPicPr>
        <p:blipFill rotWithShape="1">
          <a:blip r:embed="rId7">
            <a:alphaModFix/>
          </a:blip>
          <a:srcRect/>
          <a:stretch/>
        </p:blipFill>
        <p:spPr>
          <a:xfrm>
            <a:off x="6500812" y="3162300"/>
            <a:ext cx="4881562" cy="617041"/>
          </a:xfrm>
          <a:prstGeom prst="rect">
            <a:avLst/>
          </a:prstGeom>
          <a:noFill/>
          <a:ln>
            <a:noFill/>
          </a:ln>
        </p:spPr>
      </p:pic>
      <p:pic>
        <p:nvPicPr>
          <p:cNvPr id="19" name="Google Shape;137;p15" descr="image.png">
            <a:extLst>
              <a:ext uri="{FF2B5EF4-FFF2-40B4-BE49-F238E27FC236}">
                <a16:creationId xmlns:a16="http://schemas.microsoft.com/office/drawing/2014/main" id="{9D40B2E0-E971-6672-0E49-12C71C2025CA}"/>
              </a:ext>
            </a:extLst>
          </p:cNvPr>
          <p:cNvPicPr preferRelativeResize="0"/>
          <p:nvPr/>
        </p:nvPicPr>
        <p:blipFill rotWithShape="1">
          <a:blip r:embed="rId8">
            <a:alphaModFix/>
          </a:blip>
          <a:srcRect/>
          <a:stretch/>
        </p:blipFill>
        <p:spPr>
          <a:xfrm>
            <a:off x="6500812" y="3893641"/>
            <a:ext cx="1557337" cy="200025"/>
          </a:xfrm>
          <a:prstGeom prst="rect">
            <a:avLst/>
          </a:prstGeom>
          <a:noFill/>
          <a:ln>
            <a:noFill/>
          </a:ln>
        </p:spPr>
      </p:pic>
      <p:sp>
        <p:nvSpPr>
          <p:cNvPr id="20" name="Google Shape;138;p15">
            <a:extLst>
              <a:ext uri="{FF2B5EF4-FFF2-40B4-BE49-F238E27FC236}">
                <a16:creationId xmlns:a16="http://schemas.microsoft.com/office/drawing/2014/main" id="{DD04EFEB-3612-8E6B-06EA-6BD4F0056CA0}"/>
              </a:ext>
            </a:extLst>
          </p:cNvPr>
          <p:cNvSpPr txBox="1"/>
          <p:nvPr/>
        </p:nvSpPr>
        <p:spPr>
          <a:xfrm>
            <a:off x="6500812" y="4207966"/>
            <a:ext cx="4881562" cy="155748"/>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012" b="1" i="0" u="none" strike="noStrike" cap="none">
                <a:solidFill>
                  <a:srgbClr val="0F172A"/>
                </a:solidFill>
                <a:latin typeface="Times New Roman" panose="02020603050405020304" pitchFamily="18" charset="0"/>
                <a:ea typeface="Lato"/>
                <a:cs typeface="Times New Roman" panose="02020603050405020304" pitchFamily="18" charset="0"/>
                <a:sym typeface="Lato"/>
              </a:rPr>
              <a:t>Legal Issue:</a:t>
            </a:r>
            <a:r>
              <a:rPr lang="en-US" sz="1012" b="0" i="0" u="none" strike="noStrike" cap="none">
                <a:solidFill>
                  <a:srgbClr val="334155"/>
                </a:solidFill>
                <a:latin typeface="Times New Roman" panose="02020603050405020304" pitchFamily="18" charset="0"/>
                <a:ea typeface="Lato"/>
                <a:cs typeface="Times New Roman" panose="02020603050405020304" pitchFamily="18" charset="0"/>
                <a:sym typeface="Lato"/>
              </a:rPr>
              <a:t> Theft</a:t>
            </a:r>
            <a:endParaRPr>
              <a:latin typeface="Times New Roman" panose="02020603050405020304" pitchFamily="18" charset="0"/>
              <a:cs typeface="Times New Roman" panose="02020603050405020304" pitchFamily="18" charset="0"/>
            </a:endParaRPr>
          </a:p>
        </p:txBody>
      </p:sp>
      <p:sp>
        <p:nvSpPr>
          <p:cNvPr id="21" name="Google Shape;139;p15">
            <a:extLst>
              <a:ext uri="{FF2B5EF4-FFF2-40B4-BE49-F238E27FC236}">
                <a16:creationId xmlns:a16="http://schemas.microsoft.com/office/drawing/2014/main" id="{4E3CAD95-402A-4A61-EA6F-EF5631E5D267}"/>
              </a:ext>
            </a:extLst>
          </p:cNvPr>
          <p:cNvSpPr txBox="1"/>
          <p:nvPr/>
        </p:nvSpPr>
        <p:spPr>
          <a:xfrm>
            <a:off x="6500812" y="4417516"/>
            <a:ext cx="4881562" cy="155748"/>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012" b="1" i="0" u="none" strike="noStrike" cap="none">
                <a:solidFill>
                  <a:srgbClr val="0F172A"/>
                </a:solidFill>
                <a:latin typeface="Times New Roman" panose="02020603050405020304" pitchFamily="18" charset="0"/>
                <a:ea typeface="Lato"/>
                <a:cs typeface="Times New Roman" panose="02020603050405020304" pitchFamily="18" charset="0"/>
                <a:sym typeface="Lato"/>
              </a:rPr>
              <a:t>Applicable Act:</a:t>
            </a:r>
            <a:r>
              <a:rPr lang="en-US" sz="1012" b="0" i="0" u="none" strike="noStrike" cap="none">
                <a:solidFill>
                  <a:srgbClr val="334155"/>
                </a:solidFill>
                <a:latin typeface="Times New Roman" panose="02020603050405020304" pitchFamily="18" charset="0"/>
                <a:ea typeface="Lato"/>
                <a:cs typeface="Times New Roman" panose="02020603050405020304" pitchFamily="18" charset="0"/>
                <a:sym typeface="Lato"/>
              </a:rPr>
              <a:t> Bharatiya Nyaya Sanhita (BNS), 2023</a:t>
            </a:r>
            <a:endParaRPr>
              <a:latin typeface="Times New Roman" panose="02020603050405020304" pitchFamily="18" charset="0"/>
              <a:cs typeface="Times New Roman" panose="02020603050405020304" pitchFamily="18" charset="0"/>
            </a:endParaRPr>
          </a:p>
        </p:txBody>
      </p:sp>
      <p:sp>
        <p:nvSpPr>
          <p:cNvPr id="22" name="Google Shape;140;p15">
            <a:extLst>
              <a:ext uri="{FF2B5EF4-FFF2-40B4-BE49-F238E27FC236}">
                <a16:creationId xmlns:a16="http://schemas.microsoft.com/office/drawing/2014/main" id="{BE987C4E-965C-3B16-718B-77A3582808F4}"/>
              </a:ext>
            </a:extLst>
          </p:cNvPr>
          <p:cNvSpPr txBox="1"/>
          <p:nvPr/>
        </p:nvSpPr>
        <p:spPr>
          <a:xfrm>
            <a:off x="6500812" y="4627066"/>
            <a:ext cx="4881562" cy="155748"/>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012" b="1" i="0" u="none" strike="noStrike" cap="none">
                <a:solidFill>
                  <a:srgbClr val="0F172A"/>
                </a:solidFill>
                <a:latin typeface="Times New Roman" panose="02020603050405020304" pitchFamily="18" charset="0"/>
                <a:ea typeface="Lato"/>
                <a:cs typeface="Times New Roman" panose="02020603050405020304" pitchFamily="18" charset="0"/>
                <a:sym typeface="Lato"/>
              </a:rPr>
              <a:t>Applicable Section:</a:t>
            </a:r>
            <a:r>
              <a:rPr lang="en-US" sz="1012" b="0" i="0" u="none" strike="noStrike" cap="none">
                <a:solidFill>
                  <a:srgbClr val="334155"/>
                </a:solidFill>
                <a:latin typeface="Times New Roman" panose="02020603050405020304" pitchFamily="18" charset="0"/>
                <a:ea typeface="Lato"/>
                <a:cs typeface="Times New Roman" panose="02020603050405020304" pitchFamily="18" charset="0"/>
                <a:sym typeface="Lato"/>
              </a:rPr>
              <a:t> Provision for Theft</a:t>
            </a:r>
            <a:endParaRPr>
              <a:latin typeface="Times New Roman" panose="02020603050405020304" pitchFamily="18" charset="0"/>
              <a:cs typeface="Times New Roman" panose="02020603050405020304" pitchFamily="18" charset="0"/>
            </a:endParaRPr>
          </a:p>
        </p:txBody>
      </p:sp>
      <p:sp>
        <p:nvSpPr>
          <p:cNvPr id="23" name="Google Shape;141;p15">
            <a:extLst>
              <a:ext uri="{FF2B5EF4-FFF2-40B4-BE49-F238E27FC236}">
                <a16:creationId xmlns:a16="http://schemas.microsoft.com/office/drawing/2014/main" id="{1394C775-5824-02B9-184F-21B5DBECB4B8}"/>
              </a:ext>
            </a:extLst>
          </p:cNvPr>
          <p:cNvSpPr txBox="1"/>
          <p:nvPr/>
        </p:nvSpPr>
        <p:spPr>
          <a:xfrm>
            <a:off x="6500812" y="4836616"/>
            <a:ext cx="4881562" cy="311496"/>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012" b="1" i="0" u="none" strike="noStrike" cap="none">
                <a:solidFill>
                  <a:srgbClr val="0F172A"/>
                </a:solidFill>
                <a:latin typeface="Times New Roman" panose="02020603050405020304" pitchFamily="18" charset="0"/>
                <a:ea typeface="Lato"/>
                <a:cs typeface="Times New Roman" panose="02020603050405020304" pitchFamily="18" charset="0"/>
                <a:sym typeface="Lato"/>
              </a:rPr>
              <a:t>Explanation:</a:t>
            </a:r>
            <a:r>
              <a:rPr lang="en-US" sz="1012" b="0" i="0" u="none" strike="noStrike" cap="none">
                <a:solidFill>
                  <a:srgbClr val="334155"/>
                </a:solidFill>
                <a:latin typeface="Times New Roman" panose="02020603050405020304" pitchFamily="18" charset="0"/>
                <a:ea typeface="Lato"/>
                <a:cs typeface="Times New Roman" panose="02020603050405020304" pitchFamily="18" charset="0"/>
                <a:sym typeface="Lato"/>
              </a:rPr>
              <a:t> Dishonest taking of movable property without consent satisfies essential statutory elements.</a:t>
            </a:r>
            <a:endParaRPr>
              <a:latin typeface="Times New Roman" panose="02020603050405020304" pitchFamily="18" charset="0"/>
              <a:cs typeface="Times New Roman" panose="02020603050405020304" pitchFamily="18" charset="0"/>
            </a:endParaRPr>
          </a:p>
        </p:txBody>
      </p:sp>
      <p:sp>
        <p:nvSpPr>
          <p:cNvPr id="24" name="Google Shape;142;p15">
            <a:extLst>
              <a:ext uri="{FF2B5EF4-FFF2-40B4-BE49-F238E27FC236}">
                <a16:creationId xmlns:a16="http://schemas.microsoft.com/office/drawing/2014/main" id="{4094E7CA-72B1-39F9-06CF-3DF419C288A0}"/>
              </a:ext>
            </a:extLst>
          </p:cNvPr>
          <p:cNvSpPr txBox="1"/>
          <p:nvPr/>
        </p:nvSpPr>
        <p:spPr>
          <a:xfrm>
            <a:off x="571500" y="520184"/>
            <a:ext cx="11601450" cy="369332"/>
          </a:xfrm>
          <a:prstGeom prst="rect">
            <a:avLst/>
          </a:prstGeom>
          <a:noFill/>
          <a:ln>
            <a:noFill/>
          </a:ln>
        </p:spPr>
        <p:txBody>
          <a:bodyPr spcFirstLastPara="1" wrap="square" lIns="0" tIns="0" rIns="0" bIns="0" anchor="ctr" anchorCtr="0">
            <a:spAutoFit/>
          </a:bodyPr>
          <a:lstStyle/>
          <a:p>
            <a:pPr marL="0" marR="0" lvl="0" indent="0" algn="just" rtl="0">
              <a:spcBef>
                <a:spcPts val="0"/>
              </a:spcBef>
              <a:spcAft>
                <a:spcPts val="0"/>
              </a:spcAft>
              <a:buNone/>
            </a:pPr>
            <a:r>
              <a:rPr lang="en-US" sz="2400" b="1" i="0" u="none" strike="noStrike" cap="none">
                <a:solidFill>
                  <a:srgbClr val="0F172A"/>
                </a:solidFill>
                <a:latin typeface="Times New Roman" panose="02020603050405020304" pitchFamily="18" charset="0"/>
                <a:ea typeface="Poppins"/>
                <a:cs typeface="Times New Roman" panose="02020603050405020304" pitchFamily="18" charset="0"/>
                <a:sym typeface="Poppins"/>
              </a:rPr>
              <a:t>System Features &amp; Expected Outcomes</a:t>
            </a:r>
            <a:endParaRPr>
              <a:latin typeface="Times New Roman" panose="02020603050405020304" pitchFamily="18" charset="0"/>
              <a:cs typeface="Times New Roman" panose="02020603050405020304" pitchFamily="18" charset="0"/>
            </a:endParaRPr>
          </a:p>
        </p:txBody>
      </p:sp>
      <p:sp>
        <p:nvSpPr>
          <p:cNvPr id="25" name="Google Shape;143;p15">
            <a:extLst>
              <a:ext uri="{FF2B5EF4-FFF2-40B4-BE49-F238E27FC236}">
                <a16:creationId xmlns:a16="http://schemas.microsoft.com/office/drawing/2014/main" id="{23478E9E-E5EE-48CE-D776-E510297D9F3C}"/>
              </a:ext>
            </a:extLst>
          </p:cNvPr>
          <p:cNvSpPr/>
          <p:nvPr/>
        </p:nvSpPr>
        <p:spPr>
          <a:xfrm>
            <a:off x="571500" y="933450"/>
            <a:ext cx="76200" cy="304800"/>
          </a:xfrm>
          <a:prstGeom prst="roundRect">
            <a:avLst>
              <a:gd name="adj" fmla="val 50000"/>
            </a:avLst>
          </a:prstGeom>
          <a:solidFill>
            <a:srgbClr val="0F172A"/>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TotalTime>
  <Words>714</Words>
  <Application>Microsoft Office PowerPoint</Application>
  <PresentationFormat>Widescreen</PresentationFormat>
  <Paragraphs>106</Paragraphs>
  <Slides>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Calibri</vt:lpstr>
      <vt:lpstr>Poppins SemiBold</vt:lpstr>
      <vt:lpstr>Arial</vt:lpstr>
      <vt:lpstr>Lato</vt:lpstr>
      <vt:lpstr>Times New Roman</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cibisachin 2005</cp:lastModifiedBy>
  <cp:revision>8</cp:revision>
  <dcterms:modified xsi:type="dcterms:W3CDTF">2026-09-01T10:11:23Z</dcterms:modified>
</cp:coreProperties>
</file>