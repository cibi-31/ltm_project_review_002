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8" r:id="rId9"/>
    <p:sldId id="2147470487" r:id="rId10"/>
    <p:sldId id="21474704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CaseTag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: LLM-Based Legal Act &amp; Section Identification with Explanation from Case Filings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Cibiksha V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Legal case analysis involves examining large volumes of legal documents, Acts, and sections.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Finding relevant legal provisions manually is time-consuming and difficult. </a:t>
            </a:r>
          </a:p>
          <a:p>
            <a:pPr lvl="0"/>
            <a:r>
              <a:rPr lang="en-IN" b="0" dirty="0" err="1">
                <a:solidFill>
                  <a:schemeClr val="tx1"/>
                </a:solidFill>
                <a:latin typeface="+mn-lt"/>
              </a:rPr>
              <a:t>CASETag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Legal AI uses RAG and LLM technology to retrieve relevant Indian legal provisions.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It provides relevant sections, explanations, and source references for legal queries and case documents.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develop an AI-powered legal information retrieval system for Indian laws.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retrieve relevant Acts and sections using semantic search with RAG and FAISS.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generate contextual legal explanations using Llama 3.2.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provide source-backed legal information for natural-language queries and case documents.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provide AI-assisted retrieval of relevant Indian Acts and legal sections from legal documents.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support natural-language legal queries and case document analysis.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use RAG and semantic search for retrieving contextually relevant legal provisions.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generate clear explanations with source references using an LLM.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FA90AC-00B0-877B-9F53-B2149D259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41576"/>
              </p:ext>
            </p:extLst>
          </p:nvPr>
        </p:nvGraphicFramePr>
        <p:xfrm>
          <a:off x="255996" y="1443792"/>
          <a:ext cx="11680010" cy="4291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6002">
                  <a:extLst>
                    <a:ext uri="{9D8B030D-6E8A-4147-A177-3AD203B41FA5}">
                      <a16:colId xmlns:a16="http://schemas.microsoft.com/office/drawing/2014/main" val="2253834511"/>
                    </a:ext>
                  </a:extLst>
                </a:gridCol>
                <a:gridCol w="2336002">
                  <a:extLst>
                    <a:ext uri="{9D8B030D-6E8A-4147-A177-3AD203B41FA5}">
                      <a16:colId xmlns:a16="http://schemas.microsoft.com/office/drawing/2014/main" val="3183383368"/>
                    </a:ext>
                  </a:extLst>
                </a:gridCol>
                <a:gridCol w="2336002">
                  <a:extLst>
                    <a:ext uri="{9D8B030D-6E8A-4147-A177-3AD203B41FA5}">
                      <a16:colId xmlns:a16="http://schemas.microsoft.com/office/drawing/2014/main" val="3032677492"/>
                    </a:ext>
                  </a:extLst>
                </a:gridCol>
                <a:gridCol w="2336002">
                  <a:extLst>
                    <a:ext uri="{9D8B030D-6E8A-4147-A177-3AD203B41FA5}">
                      <a16:colId xmlns:a16="http://schemas.microsoft.com/office/drawing/2014/main" val="271779095"/>
                    </a:ext>
                  </a:extLst>
                </a:gridCol>
                <a:gridCol w="2336002">
                  <a:extLst>
                    <a:ext uri="{9D8B030D-6E8A-4147-A177-3AD203B41FA5}">
                      <a16:colId xmlns:a16="http://schemas.microsoft.com/office/drawing/2014/main" val="3015382255"/>
                    </a:ext>
                  </a:extLst>
                </a:gridCol>
              </a:tblGrid>
              <a:tr h="380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Paper &amp; Year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Method / Focus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Key Findings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Relevance to CASETag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3625636733"/>
                  </a:ext>
                </a:extLst>
              </a:tr>
              <a:tr h="1195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Legal Query RAG – Wahidur et al. (2025)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Retrieval-Augmented Generation with recursive feedback for legal queries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Improved retrieval quality and response relevance; addresses hallucination and legal-context challenges. 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Supports CASETag's use of RAG for retrieving relevant legal provisions before LLM generation.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852921071"/>
                  </a:ext>
                </a:extLst>
              </a:tr>
              <a:tr h="1195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NyayaRAG: Realistic Legal Judgment Prediction with RAG under the Indian Common Law System – Nigam et al. (2025)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RAG using case facts, relevant statutes, and semantically retrieved prior cases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Found that adding structured legal knowledge improved prediction accuracy and explanation quality. 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Highly relevant to CASETag's Indian legal documents + RAG-based retrieval and explanation.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2542331285"/>
                  </a:ext>
                </a:extLst>
              </a:tr>
              <a:tr h="1520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AILQA: Evaluating AI-driven Legal Question Answering Systems for the Indian Legal System – Nigam et al. (2026)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Indian legal QA using embeddings, LLMs and RAG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Evaluated AI legal QA using lexical, semantic and expert-based evaluation; showed the effectiveness of RAG for complex Indian legal questions. 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Closely related to </a:t>
                      </a:r>
                      <a:r>
                        <a:rPr lang="en-IN" sz="1200" dirty="0" err="1"/>
                        <a:t>CASETag's</a:t>
                      </a:r>
                      <a:r>
                        <a:rPr lang="en-IN" sz="1200" dirty="0"/>
                        <a:t> Indian legal question answering using embeddings, retrieval and Llama 3.2.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3948851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2025 studies show that RAG, legal embeddings, and LLMs can improve legal information retrieval and response generation. </a:t>
            </a:r>
          </a:p>
          <a:p>
            <a:pPr lvl="0"/>
            <a:r>
              <a:rPr lang="en-IN" b="0" dirty="0" err="1">
                <a:solidFill>
                  <a:schemeClr val="tx1"/>
                </a:solidFill>
                <a:latin typeface="+mn-lt"/>
              </a:rPr>
              <a:t>NyayaRAG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demonstrates the use of RAG with Indian statutes and case laws for better legal reasoning and explanations.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 2026 AILQA study evaluates RAG-based legal question answering for the Indian legal system, highlighting the importance of retrieval quality.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These studies support the development of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CASETag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, which uses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LangChain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, FAISS,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Ollama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embeddings, and Llama 3.2 to retrieve relevant Indian Acts and sections.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>
                <a:solidFill>
                  <a:schemeClr val="tx1"/>
                </a:solidFill>
              </a:rPr>
              <a:t>Input: Natural-language legal questions or uploaded case documents in PDF format.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Legal Data Sources: </a:t>
            </a:r>
            <a:r>
              <a:rPr lang="en-IN" dirty="0" err="1">
                <a:solidFill>
                  <a:schemeClr val="tx1"/>
                </a:solidFill>
              </a:rPr>
              <a:t>IndiaCode</a:t>
            </a:r>
            <a:r>
              <a:rPr lang="en-IN" dirty="0">
                <a:solidFill>
                  <a:schemeClr val="tx1"/>
                </a:solidFill>
              </a:rPr>
              <a:t> and </a:t>
            </a:r>
            <a:r>
              <a:rPr lang="en-IN" dirty="0" err="1">
                <a:solidFill>
                  <a:schemeClr val="tx1"/>
                </a:solidFill>
              </a:rPr>
              <a:t>KanoonGPT</a:t>
            </a:r>
            <a:r>
              <a:rPr lang="en-IN" dirty="0">
                <a:solidFill>
                  <a:schemeClr val="tx1"/>
                </a:solidFill>
              </a:rPr>
              <a:t> Indian Legal Documents.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Knowledge Base: Approximately 33,000 legal sections converted into 54,805 searchable chunks.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Embedding: nomic-embed-text converts legal text into vector representations.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Retrieval: FAISS initially retrieves 15 candidates, removes duplicates, and selects the top 5 unique provisions.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F831-4036-F211-13C2-968BF65F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/>
              </a:rPr>
              <a:t>Additional Information</a:t>
            </a:r>
            <a:br>
              <a:rPr lang="en-US" b="1" dirty="0">
                <a:latin typeface="Calibri" panose="020F0502020204030204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8B1F-98A2-4896-9153-675287FEF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77" y="1401619"/>
            <a:ext cx="11004446" cy="4795008"/>
          </a:xfrm>
        </p:spPr>
        <p:txBody>
          <a:bodyPr/>
          <a:lstStyle/>
          <a:p>
            <a:pPr lvl="0"/>
            <a:r>
              <a:rPr lang="en-IN" dirty="0"/>
              <a:t>Generation: Llama 3.2 generates the final legal analysis using the retrieved context. </a:t>
            </a:r>
          </a:p>
          <a:p>
            <a:pPr lvl="0"/>
            <a:r>
              <a:rPr lang="en-IN" dirty="0"/>
              <a:t>Framework: </a:t>
            </a:r>
            <a:r>
              <a:rPr lang="en-IN" dirty="0" err="1"/>
              <a:t>LangChain</a:t>
            </a:r>
            <a:r>
              <a:rPr lang="en-IN" dirty="0"/>
              <a:t> connects the retrieval and LLM components. </a:t>
            </a:r>
          </a:p>
          <a:p>
            <a:pPr lvl="0"/>
            <a:r>
              <a:rPr lang="en-IN" dirty="0"/>
              <a:t>Output: Legal issue, applicable Act, relevant section, explanation, related provisions, and source references. </a:t>
            </a:r>
          </a:p>
          <a:p>
            <a:pPr lvl="0"/>
            <a:r>
              <a:rPr lang="en-IN" dirty="0"/>
              <a:t>Interface: </a:t>
            </a:r>
            <a:r>
              <a:rPr lang="en-IN" dirty="0" err="1"/>
              <a:t>Streamlit</a:t>
            </a:r>
            <a:r>
              <a:rPr lang="en-IN" dirty="0"/>
              <a:t> provides the user-facing web application. </a:t>
            </a:r>
          </a:p>
          <a:p>
            <a:pPr lvl="0"/>
            <a:r>
              <a:rPr lang="en-IN" dirty="0"/>
              <a:t>Purpose: Supports preliminary legal information retrieval and is not a substitute for professional legal advice.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04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Design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1AB605-E580-24A8-7A63-CE8B6D125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8338"/>
            <a:ext cx="12192000" cy="562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Module 1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US" dirty="0" err="1">
                <a:solidFill>
                  <a:srgbClr val="5583D1"/>
                </a:solidFill>
                <a:latin typeface="+mn-lt"/>
              </a:rPr>
              <a:t>calibri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> 28</a:t>
            </a:r>
            <a:r>
              <a:rPr lang="en-US" dirty="0">
                <a:solidFill>
                  <a:srgbClr val="5583D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D23D2B-C729-1F1D-AB65-471B069B6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293202"/>
              </p:ext>
            </p:extLst>
          </p:nvPr>
        </p:nvGraphicFramePr>
        <p:xfrm>
          <a:off x="255996" y="1157128"/>
          <a:ext cx="11936004" cy="4864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68002">
                  <a:extLst>
                    <a:ext uri="{9D8B030D-6E8A-4147-A177-3AD203B41FA5}">
                      <a16:colId xmlns:a16="http://schemas.microsoft.com/office/drawing/2014/main" val="3980315130"/>
                    </a:ext>
                  </a:extLst>
                </a:gridCol>
                <a:gridCol w="5968002">
                  <a:extLst>
                    <a:ext uri="{9D8B030D-6E8A-4147-A177-3AD203B41FA5}">
                      <a16:colId xmlns:a16="http://schemas.microsoft.com/office/drawing/2014/main" val="629193276"/>
                    </a:ext>
                  </a:extLst>
                </a:gridCol>
              </a:tblGrid>
              <a:tr h="304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1429266686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1. User Input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Accepts a natural-language legal query or an uploaded case document (PDF) from the user.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2060435278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2. PDF Processing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Extracts and preprocesses text from uploaded legal case documents using PyMuPDF.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3336841388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3. Data Preprocessing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Cleans legal data, removes duplicates, combines Act and section information, and prepares the knowledge base.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1951316629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4. Embedding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Converts legal text and user queries into numerical vectors using nomic-embed-text.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2138696833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5. FAISS Retrieval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Performs semantic similarity search and retrieves the top relevant legal provisions from the vector database.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3960886577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6. RAG &amp; LLM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LangChain to pass retrieved legal context to Llama 3.2 and generate a contextual response.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1648577275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7. Legal Analysis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Presents the identified legal issue, applicable Act, relevant section, explanation, and other provisions.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4177140812"/>
                  </a:ext>
                </a:extLst>
              </a:tr>
              <a:tr h="53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8. Source &amp; Output Module</a:t>
                      </a:r>
                    </a:p>
                  </a:txBody>
                  <a:tcPr marL="79904" marR="79904" marT="39952" marB="39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Displays retrieved provisions along with their source references through the </a:t>
                      </a:r>
                      <a:r>
                        <a:rPr lang="en-IN" sz="1600" dirty="0" err="1"/>
                        <a:t>Streamlit</a:t>
                      </a:r>
                      <a:r>
                        <a:rPr lang="en-IN" sz="1600" dirty="0"/>
                        <a:t> interface.</a:t>
                      </a:r>
                    </a:p>
                  </a:txBody>
                  <a:tcPr marL="79904" marR="79904" marT="39952" marB="39952" anchor="ctr"/>
                </a:tc>
                <a:extLst>
                  <a:ext uri="{0D108BD9-81ED-4DB2-BD59-A6C34878D82A}">
                    <a16:rowId xmlns:a16="http://schemas.microsoft.com/office/drawing/2014/main" val="3854785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859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Information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15</cp:revision>
  <dcterms:created xsi:type="dcterms:W3CDTF">2024-05-13T10:33:11Z</dcterms:created>
  <dcterms:modified xsi:type="dcterms:W3CDTF">2026-10-07T08:53:06Z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