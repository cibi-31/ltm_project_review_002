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4" r:id="rId6"/>
    <p:sldId id="2147470494" r:id="rId7"/>
    <p:sldId id="2147470501" r:id="rId8"/>
    <p:sldId id="2147470498" r:id="rId9"/>
    <p:sldId id="2147470497" r:id="rId10"/>
    <p:sldId id="2147470506" r:id="rId11"/>
    <p:sldId id="2147470499" r:id="rId12"/>
    <p:sldId id="2147470502" r:id="rId13"/>
    <p:sldId id="21474705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react.dev/index?utm_source=chatgpt.com" TargetMode="External"/><Relationship Id="rId3" Type="http://schemas.openxmlformats.org/officeDocument/2006/relationships/hyperlink" Target="https://faiss.ai/?utm_source=chatgpt.com" TargetMode="External"/><Relationship Id="rId7" Type="http://schemas.openxmlformats.org/officeDocument/2006/relationships/hyperlink" Target="https://ollama.com/library/llama3.2-vision?utm_source=chatgpt.com" TargetMode="External"/><Relationship Id="rId2" Type="http://schemas.openxmlformats.org/officeDocument/2006/relationships/hyperlink" Target="https://www.kaggle.com/pes12017000148/food-ingredients-and-recipe-dataset-with-images/activity?utm_source=chatgpt.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nomic.ai/?utm_source=chatgpt.com" TargetMode="External"/><Relationship Id="rId5" Type="http://schemas.openxmlformats.org/officeDocument/2006/relationships/hyperlink" Target="https://ollama.com/?utm_source=chatgpt.com" TargetMode="External"/><Relationship Id="rId4" Type="http://schemas.openxmlformats.org/officeDocument/2006/relationships/hyperlink" Target="https://python.langchain.com/?utm_source=chatgpt.com" TargetMode="External"/><Relationship Id="rId9" Type="http://schemas.openxmlformats.org/officeDocument/2006/relationships/hyperlink" Target="https://fastapi.tiangolo.com/tutorial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  <a:latin typeface="Calibri (Body)"/>
              </a:rPr>
              <a:t>Leftover Ingredient-Based Recipe Recommendation using Agentic AI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					Cibiksha V</a:t>
            </a:r>
          </a:p>
          <a:p>
            <a:pPr lvl="0" algn="ctr">
              <a:defRPr/>
            </a:pPr>
            <a:endParaRPr lang="en-US" sz="54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Helps users utilize available food ingredients effectively and reduce kitchen food waste.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Accepts ingredients through text input or food images.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Uses AI-based image recognition to identify ingredients from uploaded images.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Uses Agentic AI and RAG to search and recommend relevant recipes.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Uses Nomic Embeddings and FAISS for efficient recipe retrieval.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Identifies matched and missing ingredients to help users select suitable recipes.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Promotes better utilization of available food resources and reduces unnecessary food waste.</a:t>
            </a:r>
          </a:p>
          <a:p>
            <a:endParaRPr lang="en-IN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develop an AI-powered system for reducing kitchen food waste.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identify available food ingredients from text input and uploaded images.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retrieve relevant recipes based on the available ingredients.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use Agentic AI and RAG for intelligent recipe recommendation.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identify matched and missing ingredients for each recommended recipe.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help users make better use of ingredients already available in their kitchen.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To provide fast and relevant recipe suggestions through an easy-to-use interface.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r>
              <a:rPr lang="en-IN" b="1" dirty="0"/>
              <a:t>Modules: Input &amp; Processing</a:t>
            </a:r>
            <a:endParaRPr lang="en-US" b="1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B8ADBA-8786-4DDE-1155-AF1E0D492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880336"/>
              </p:ext>
            </p:extLst>
          </p:nvPr>
        </p:nvGraphicFramePr>
        <p:xfrm>
          <a:off x="471774" y="2020621"/>
          <a:ext cx="11004549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8183">
                  <a:extLst>
                    <a:ext uri="{9D8B030D-6E8A-4147-A177-3AD203B41FA5}">
                      <a16:colId xmlns:a16="http://schemas.microsoft.com/office/drawing/2014/main" val="1752620548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4212368793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2725323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Module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632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User Input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Accepts ingredients through text input or food images.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33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Image-Based Ingredient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Identifies visible ingredients from uploaded images.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857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Ingredient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Cleans, normalizes, and standardizes ingredient names.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585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Recipe Knowledge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Stores recipe titles, ingredients, and cooking instructions.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507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Embedding &amp; Vector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Generates embeddings using Nomic Embed Text and stores them in FAISS.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078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DEC8-2599-2C23-7810-8E9479A05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25859E-5B58-4A3E-0B0E-00E4FC6122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r>
              <a:rPr lang="en-IN" b="1" dirty="0"/>
              <a:t>Modules: AI &amp; Recommendation</a:t>
            </a:r>
          </a:p>
          <a:p>
            <a:pPr lvl="1"/>
            <a:endParaRPr lang="en-US" b="1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1EC88-BFD7-6450-E489-3D45756599D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latin typeface="Calibri (Body)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(Body)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70262F-9036-FC61-B8B2-F2FA1F55290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00CAAE-D667-277F-46DB-244DB0E66DA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49DDB0-BC9F-8CFA-0EA0-BCBAF59DB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654849"/>
              </p:ext>
            </p:extLst>
          </p:nvPr>
        </p:nvGraphicFramePr>
        <p:xfrm>
          <a:off x="591618" y="2020621"/>
          <a:ext cx="11004549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8183">
                  <a:extLst>
                    <a:ext uri="{9D8B030D-6E8A-4147-A177-3AD203B41FA5}">
                      <a16:colId xmlns:a16="http://schemas.microsoft.com/office/drawing/2014/main" val="1752620548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4212368793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2725323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S.No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Module Name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632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RAG-Based Recipe Retrieval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Retrieves relevant recipes based on available ingredients.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33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Agentic AI Module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Uses Llama 3.2 to handle queries and select appropriate tools.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857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Ingredient Matching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Identifies matched and missing ingredients for recipes.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585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Recipe Recommendation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Ranks and presents suitable recipes to the user.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507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UI &amp; Backend Integration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Connects the React frontend with the </a:t>
                      </a:r>
                      <a:r>
                        <a:rPr lang="en-IN" dirty="0" err="1"/>
                        <a:t>FastAPI</a:t>
                      </a:r>
                      <a:r>
                        <a:rPr lang="en-IN" dirty="0"/>
                        <a:t> backend.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078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218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Kitchen food waste occurs when available ingredients remain unused due to limited recipe choices.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Users often do not know what recipes can be prepared with the ingredients they have.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Existing recipe platforms mainly require manual recipe searching and may not consider the user's complete ingredient availability.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Identifying ingredients from food images and finding suitable recipes is also challenging.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Calibri (Body)"/>
              </a:rPr>
              <a:t>Hence, there is a need for an AI-powered system that identifies available ingredients and recommends suitable recipes while highlighting missing ingredients, helping users make better use of available food and reduce waste.</a:t>
            </a:r>
          </a:p>
          <a:p>
            <a:pPr lvl="0"/>
            <a:endParaRPr lang="en-IN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2FCF79-345F-333F-C560-4583CFFA9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219240"/>
              </p:ext>
            </p:extLst>
          </p:nvPr>
        </p:nvGraphicFramePr>
        <p:xfrm>
          <a:off x="677863" y="1192213"/>
          <a:ext cx="9015230" cy="4817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7615">
                  <a:extLst>
                    <a:ext uri="{9D8B030D-6E8A-4147-A177-3AD203B41FA5}">
                      <a16:colId xmlns:a16="http://schemas.microsoft.com/office/drawing/2014/main" val="1400361978"/>
                    </a:ext>
                  </a:extLst>
                </a:gridCol>
                <a:gridCol w="4507615">
                  <a:extLst>
                    <a:ext uri="{9D8B030D-6E8A-4147-A177-3AD203B41FA5}">
                      <a16:colId xmlns:a16="http://schemas.microsoft.com/office/drawing/2014/main" val="2980718222"/>
                    </a:ext>
                  </a:extLst>
                </a:gridCol>
              </a:tblGrid>
              <a:tr h="299641">
                <a:tc>
                  <a:txBody>
                    <a:bodyPr/>
                    <a:lstStyle/>
                    <a:p>
                      <a:pPr lvl="0"/>
                      <a:endParaRPr lang="en-IN" sz="16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057832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623559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590702"/>
                  </a:ext>
                </a:extLst>
              </a:tr>
              <a:tr h="29964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96639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871029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384389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661935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046599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888387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910" marR="74910" marT="37455" marB="374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02313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5E42BDB2-DF43-45BF-B6A0-CE1EAF914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5"/>
          <a:stretch>
            <a:fillRect/>
          </a:stretch>
        </p:blipFill>
        <p:spPr>
          <a:xfrm>
            <a:off x="0" y="1888761"/>
            <a:ext cx="12192000" cy="367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184C54-197E-E78F-78B7-9A8863B0E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558178"/>
              </p:ext>
            </p:extLst>
          </p:nvPr>
        </p:nvGraphicFramePr>
        <p:xfrm>
          <a:off x="255996" y="1594384"/>
          <a:ext cx="11680008" cy="38992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40004">
                  <a:extLst>
                    <a:ext uri="{9D8B030D-6E8A-4147-A177-3AD203B41FA5}">
                      <a16:colId xmlns:a16="http://schemas.microsoft.com/office/drawing/2014/main" val="1913078306"/>
                    </a:ext>
                  </a:extLst>
                </a:gridCol>
                <a:gridCol w="5840004">
                  <a:extLst>
                    <a:ext uri="{9D8B030D-6E8A-4147-A177-3AD203B41FA5}">
                      <a16:colId xmlns:a16="http://schemas.microsoft.com/office/drawing/2014/main" val="1249401923"/>
                    </a:ext>
                  </a:extLst>
                </a:gridCol>
              </a:tblGrid>
              <a:tr h="433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 / Technique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296905"/>
                  </a:ext>
                </a:extLst>
              </a:tr>
              <a:tr h="433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 Image Ingredient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Vision-Language Model – Qwen2.5-VL 3B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305236"/>
                  </a:ext>
                </a:extLst>
              </a:tr>
              <a:tr h="433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 Data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Rule-Based Ingredient Normalization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069178"/>
                  </a:ext>
                </a:extLst>
              </a:tr>
              <a:tr h="433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3. </a:t>
                      </a:r>
                      <a:r>
                        <a:rPr lang="en-IN"/>
                        <a:t>Text Embedding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Nomic Embed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983485"/>
                  </a:ext>
                </a:extLst>
              </a:tr>
              <a:tr h="433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 Recipe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FAISS Similarity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285078"/>
                  </a:ext>
                </a:extLst>
              </a:tr>
              <a:tr h="433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Retrieval-Augmented Generation (RAG)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06332"/>
                  </a:ext>
                </a:extLst>
              </a:tr>
              <a:tr h="433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 Agentic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Tool-Based Agent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814549"/>
                  </a:ext>
                </a:extLst>
              </a:tr>
              <a:tr h="433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7. Ingredient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Rule-Based Matching &amp; Scoring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141520"/>
                  </a:ext>
                </a:extLst>
              </a:tr>
              <a:tr h="433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8. Recipe Ranking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Similarity + Ingredient Match Ranking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458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00641-7697-A973-3232-9D4D5C06B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074" y="1234637"/>
            <a:ext cx="5915851" cy="51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A1C7-0CDB-EC60-9111-A3C1D9C9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57AA42-805A-07F7-A087-685E1BE3E1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EF724-897E-FE0A-4D5E-16351A9F523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5D0E37-7406-8BD0-A76D-D1A589A8966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5FBB3DF-0959-5F4A-3F3D-98366E59F339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659BFD-0CBD-814B-2BE6-2A2E5C9D0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244" y="1191756"/>
            <a:ext cx="4591691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buNone/>
            </a:pPr>
            <a:r>
              <a:rPr lang="en-IN" b="0" dirty="0" err="1">
                <a:solidFill>
                  <a:schemeClr val="tx1"/>
                </a:solidFill>
                <a:latin typeface="Calibri (Body)"/>
              </a:rPr>
              <a:t>RecipeGenie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provides an AI-powered solution to reduce kitchen food waste by recommending recipes based on available ingredients.</a:t>
            </a:r>
            <a:br>
              <a:rPr lang="en-IN" b="0" dirty="0">
                <a:solidFill>
                  <a:schemeClr val="tx1"/>
                </a:solidFill>
                <a:latin typeface="Calibri (Body)"/>
              </a:rPr>
            </a:br>
            <a:r>
              <a:rPr lang="en-IN" b="0" dirty="0">
                <a:solidFill>
                  <a:schemeClr val="tx1"/>
                </a:solidFill>
                <a:latin typeface="Calibri (Body)"/>
              </a:rPr>
              <a:t>It accepts text input and food images to identify ingredients.</a:t>
            </a:r>
            <a:br>
              <a:rPr lang="en-IN" b="0" dirty="0">
                <a:solidFill>
                  <a:schemeClr val="tx1"/>
                </a:solidFill>
                <a:latin typeface="Calibri (Body)"/>
              </a:rPr>
            </a:br>
            <a:r>
              <a:rPr lang="en-IN" b="0" dirty="0">
                <a:solidFill>
                  <a:schemeClr val="tx1"/>
                </a:solidFill>
                <a:latin typeface="Calibri (Body)"/>
              </a:rPr>
              <a:t>Qwen2.5-VL 3B recognizes ingredients, while rule-based preprocessing</a:t>
            </a:r>
          </a:p>
          <a:p>
            <a:pPr marL="0" indent="0" algn="just">
              <a:buNone/>
            </a:pPr>
            <a:r>
              <a:rPr lang="en-IN" b="0" dirty="0" err="1">
                <a:solidFill>
                  <a:schemeClr val="tx1"/>
                </a:solidFill>
                <a:latin typeface="Calibri (Body)"/>
              </a:rPr>
              <a:t>Standarize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them. Nomic Embed Text, FAISS, RAG, and Agentic AI enable</a:t>
            </a:r>
          </a:p>
          <a:p>
            <a:pPr marL="0" indent="0" algn="just">
              <a:buNone/>
            </a:pPr>
            <a:r>
              <a:rPr lang="en-IN" b="0" dirty="0" err="1">
                <a:solidFill>
                  <a:schemeClr val="tx1"/>
                </a:solidFill>
                <a:latin typeface="Calibri (Body)"/>
              </a:rPr>
              <a:t>Relevent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recipe retrieval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recommendation.Te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system identifies matched</a:t>
            </a:r>
          </a:p>
          <a:p>
            <a:pPr marL="0" indent="0" algn="just">
              <a:buNone/>
            </a:pPr>
            <a:r>
              <a:rPr lang="en-IN" b="0" dirty="0">
                <a:solidFill>
                  <a:schemeClr val="tx1"/>
                </a:solidFill>
                <a:latin typeface="Calibri (Body)"/>
              </a:rPr>
              <a:t>and missing ingredients, helping users utilize available food effectively.</a:t>
            </a:r>
          </a:p>
          <a:p>
            <a:pPr marL="0" lvl="0" indent="0">
              <a:buNone/>
            </a:pPr>
            <a:endParaRPr lang="en-IN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IN" b="0" dirty="0">
                <a:solidFill>
                  <a:schemeClr val="tx1"/>
                </a:solidFill>
              </a:rPr>
              <a:t>I sincerely thank LTM and L&amp;T EduTech for providing the infrastructure, laptop, training room, ID card, and a valuable 2-month opportunity to enhance my technical skills through practical project development.</a:t>
            </a:r>
          </a:p>
          <a:p>
            <a:pPr algn="just"/>
            <a:r>
              <a:rPr lang="en-IN" b="0" dirty="0">
                <a:solidFill>
                  <a:schemeClr val="tx1"/>
                </a:solidFill>
              </a:rPr>
              <a:t> I express my special gratitude to Dr. Ganesh for his continuous guidance, valuable suggestions, and support in improving my project. I also thank the Classroom Managers for their daily monitoring, coordination, and assistance in resolving issues. Finally, my special thanks to Mr. Jayakanthan, Manager – Delivery Operations, L&amp;T EduTech, for his encouragement, support, and for providing this valuable opportunity.</a:t>
            </a:r>
          </a:p>
          <a:p>
            <a:pPr marL="0" indent="0" algn="just"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/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[1] S. Goel 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et al.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, “Food Ingredients and Recipe Dataset with Images,” 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Kaggle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, 2020. 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Dataset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[2] Meta AI, “FAISS: A Library for Efficient Similarity Search and Clustering of Dense Vectors,” 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FAISS Documentation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FAISS Documentation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[3] 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</a:rPr>
              <a:t>LangChain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, “Retrieval-Augmented Generation (RAG),” </a:t>
            </a:r>
            <a:r>
              <a:rPr lang="en-IN" sz="2400" b="0" i="1" dirty="0" err="1">
                <a:solidFill>
                  <a:schemeClr val="tx1"/>
                </a:solidFill>
                <a:latin typeface="Calibri (Body)"/>
              </a:rPr>
              <a:t>LangChain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 Documentation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LangChain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Documentation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[4] 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</a:rPr>
              <a:t>Ollama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, “Llama 3.2,” </a:t>
            </a:r>
            <a:r>
              <a:rPr lang="en-IN" sz="2400" b="0" i="1" dirty="0" err="1">
                <a:solidFill>
                  <a:schemeClr val="tx1"/>
                </a:solidFill>
                <a:latin typeface="Calibri (Body)"/>
              </a:rPr>
              <a:t>Ollama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 Documentation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Ollama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[5] Nomic AI, “Nomic Embed,” 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Nomic AI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Nomic AI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[6] Meta AI, “Llama 3.2 Vision,” </a:t>
            </a:r>
            <a:r>
              <a:rPr lang="en-IN" sz="2400" b="0" i="1" dirty="0" err="1">
                <a:solidFill>
                  <a:schemeClr val="tx1"/>
                </a:solidFill>
                <a:latin typeface="Calibri (Body)"/>
              </a:rPr>
              <a:t>Ollama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 Model Library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Llama 3.2 Vision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[7] Meta, “React – A JavaScript Library for Building User Interfaces,” 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React Documentation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 Documentation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[8] Sebastián Ramírez, “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</a:rPr>
              <a:t>FastAPI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 – Modern, Fast Web Framework for Building APIs,” </a:t>
            </a:r>
            <a:r>
              <a:rPr lang="en-IN" sz="2400" b="0" i="1" dirty="0" err="1">
                <a:solidFill>
                  <a:schemeClr val="tx1"/>
                </a:solidFill>
                <a:latin typeface="Calibri (Body)"/>
              </a:rPr>
              <a:t>FastAPI</a:t>
            </a:r>
            <a:r>
              <a:rPr lang="en-IN" sz="2400" b="0" i="1" dirty="0">
                <a:solidFill>
                  <a:schemeClr val="tx1"/>
                </a:solidFill>
                <a:latin typeface="Calibri (Body)"/>
              </a:rPr>
              <a:t> Documentation</a:t>
            </a:r>
            <a:r>
              <a:rPr lang="en-IN" sz="2400" b="0" dirty="0">
                <a:solidFill>
                  <a:schemeClr val="tx1"/>
                </a:solidFill>
                <a:latin typeface="Calibri (Body)"/>
              </a:rPr>
              <a:t>. </a:t>
            </a:r>
            <a:r>
              <a:rPr lang="en-IN" sz="2400" b="0" dirty="0" err="1">
                <a:solidFill>
                  <a:schemeClr val="tx1"/>
                </a:solidFill>
                <a:latin typeface="Calibri (Body)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</a:t>
            </a:r>
            <a:r>
              <a:rPr lang="en-IN" sz="2400" b="0" dirty="0">
                <a:solidFill>
                  <a:schemeClr val="tx1"/>
                </a:solidFill>
                <a:latin typeface="Calibri (Body)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Documentation</a:t>
            </a:r>
            <a:endParaRPr lang="en-IN" sz="2400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959</Words>
  <Application>Microsoft Office PowerPoint</Application>
  <PresentationFormat>Widescreen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Cibiksha V</cp:lastModifiedBy>
  <cp:revision>31</cp:revision>
  <dcterms:created xsi:type="dcterms:W3CDTF">2024-05-13T10:33:11Z</dcterms:created>
  <dcterms:modified xsi:type="dcterms:W3CDTF">2026-10-07T10:28:43Z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