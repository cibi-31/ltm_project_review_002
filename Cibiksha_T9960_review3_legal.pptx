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504" r:id="rId9"/>
    <p:sldId id="2147470497" r:id="rId10"/>
    <p:sldId id="2147470507" r:id="rId11"/>
    <p:sldId id="2147470506" r:id="rId12"/>
    <p:sldId id="2147470499" r:id="rId13"/>
    <p:sldId id="2147470502" r:id="rId14"/>
    <p:sldId id="21474705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CASETAG: RAG-Based Legal Provision and Precedent Retrieval with LLM-Based Explanation from Case Filings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Cibiksha V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Legal case filings contain complex and extensive information that requires careful analysis.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Identifying the relevant Acts and Sections manually can be time-consuming.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Finding previous judgments related to similar legal issues also requires extensive legal research.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CASETAG uses Retrieval-Augmented Generation (RAG) to retrieve relevant legal provisions and previous criminal judgments.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 retrieved information is processed by an LLM to generate clear and relevant legal explanations.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 system aims to make legal research faster, structured, and easier to understand.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</a:rPr>
              <a:t>To develop an LLM-based RAG system for </a:t>
            </a:r>
            <a:r>
              <a:rPr lang="en-IN" b="0" dirty="0" err="1">
                <a:solidFill>
                  <a:schemeClr val="tx1"/>
                </a:solidFill>
              </a:rPr>
              <a:t>analyzing</a:t>
            </a:r>
            <a:r>
              <a:rPr lang="en-IN" b="0" dirty="0">
                <a:solidFill>
                  <a:schemeClr val="tx1"/>
                </a:solidFill>
              </a:rPr>
              <a:t> legal case filings.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retrieve relevant Acts and Sections based on the facts and legal issues in a case.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retrieve relevant previous criminal judgments related to the given case.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use semantic search and FAISS for efficient retrieval of legal information.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generate clear explanations of why the retrieved legal provisions and judgments are relevant.</a:t>
            </a:r>
          </a:p>
          <a:p>
            <a:pPr lvl="0"/>
            <a:r>
              <a:rPr lang="en-IN" b="0" dirty="0">
                <a:solidFill>
                  <a:schemeClr val="tx1"/>
                </a:solidFill>
              </a:rPr>
              <a:t>To provide a structured and user-friendly platform for assisting legal research and case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latin typeface="Calibri" panose="020F0502020204030204"/>
              </a:rPr>
              <a:t>Module 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F2DE33-2FC4-5440-DD98-031954F06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304232"/>
              </p:ext>
            </p:extLst>
          </p:nvPr>
        </p:nvGraphicFramePr>
        <p:xfrm>
          <a:off x="289121" y="1314100"/>
          <a:ext cx="11152680" cy="4574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7560">
                  <a:extLst>
                    <a:ext uri="{9D8B030D-6E8A-4147-A177-3AD203B41FA5}">
                      <a16:colId xmlns:a16="http://schemas.microsoft.com/office/drawing/2014/main" val="3876018116"/>
                    </a:ext>
                  </a:extLst>
                </a:gridCol>
                <a:gridCol w="3717560">
                  <a:extLst>
                    <a:ext uri="{9D8B030D-6E8A-4147-A177-3AD203B41FA5}">
                      <a16:colId xmlns:a16="http://schemas.microsoft.com/office/drawing/2014/main" val="3911805943"/>
                    </a:ext>
                  </a:extLst>
                </a:gridCol>
                <a:gridCol w="3717560">
                  <a:extLst>
                    <a:ext uri="{9D8B030D-6E8A-4147-A177-3AD203B41FA5}">
                      <a16:colId xmlns:a16="http://schemas.microsoft.com/office/drawing/2014/main" val="3446529617"/>
                    </a:ext>
                  </a:extLst>
                </a:gridCol>
              </a:tblGrid>
              <a:tr h="24648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S. No.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Module Name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53499147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User Authentication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Handles user registration, login, and secure access to CASETag.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1241373489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Case Filing Input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Accepts case details or legal case filings from the user.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3061715744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3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Legal Document Processing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Processes, cleans, and chunks legal documents for retrieval.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595358116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Legal Provision Retrieval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Retrieves relevant Acts and Sections using semantic search and FAISS.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3078858680"/>
                  </a:ext>
                </a:extLst>
              </a:tr>
              <a:tr h="44919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Previous Judgment Retrieval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Retrieves relevant previous criminal judgments related to the case.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2379215642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6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LLM-Based Explanation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Uses the Groq LLM to explain the relevance of retrieved legal information.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627605907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7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Case Analysis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Presents relevant provisions, punishment details, and judgment-based insights.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2348507576"/>
                  </a:ext>
                </a:extLst>
              </a:tr>
              <a:tr h="603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8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User Interface</a:t>
                      </a:r>
                    </a:p>
                  </a:txBody>
                  <a:tcPr marL="69482" marR="69482" marT="34741" marB="3474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Provides a user-friendly React interface for case analysis and legal queries.</a:t>
                      </a:r>
                    </a:p>
                  </a:txBody>
                  <a:tcPr marL="69482" marR="69482" marT="34741" marB="34741" anchor="ctr"/>
                </a:tc>
                <a:extLst>
                  <a:ext uri="{0D108BD9-81ED-4DB2-BD59-A6C34878D82A}">
                    <a16:rowId xmlns:a16="http://schemas.microsoft.com/office/drawing/2014/main" val="121182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Legal case filings contain large and complex information, making manual analysis time-consuming.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Identifying the relevant Acts and Sections for a given case requires extensive legal knowledge and research.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Finding similar previous criminal judgments from large collections of legal documents is difficult and inefficient.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Traditional keyword-based search may fail to identify semantically related legal provisions and cases.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There is a need for a system that can retrieve relevant legal information and provide understandable explanations based on the given case.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Therefore, </a:t>
            </a:r>
            <a:r>
              <a:rPr lang="en-IN" b="0" dirty="0" err="1">
                <a:solidFill>
                  <a:schemeClr val="tx1"/>
                </a:solidFill>
                <a:latin typeface="+mn-lt"/>
              </a:rPr>
              <a:t>CASETag</a:t>
            </a:r>
            <a:r>
              <a:rPr lang="en-IN" b="0" dirty="0">
                <a:solidFill>
                  <a:schemeClr val="tx1"/>
                </a:solidFill>
                <a:latin typeface="+mn-lt"/>
              </a:rPr>
              <a:t> aims to develop an LLM-based RAG system for efficient legal provision and previous judgment retrieval and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72936-29F5-B9CF-EF06-BF20ADBA0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2244"/>
            <a:ext cx="12192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66A20D-90B2-4EFB-0929-FF5023173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982122"/>
              </p:ext>
            </p:extLst>
          </p:nvPr>
        </p:nvGraphicFramePr>
        <p:xfrm>
          <a:off x="255996" y="1371600"/>
          <a:ext cx="11004549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3004277075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384472126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916483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44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 Filing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Accept the legal case description or case filing.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737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Clean, normalize, and divide the case text into meaningful chunks.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51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semantic embeddings using Ollama – nomic-embed-text.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86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Legal Provision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the Acts &amp; Sections FAISS database for relevant legal provisions.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310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Judgment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 the Criminal Judgments FAISS database for relevant previous judgments.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602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35A7D-E185-E5B7-2FBA-9D2B9708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C9135-3998-6167-09B9-923E389CA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7438A-FFE8-759A-18AE-D53440BFADE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50F3F-199D-CC06-34A7-89FF2D4FDBA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96CDFD-A960-5EAF-C772-2C312F61EFB0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F4A412-8D5D-5C2C-05DB-CA4A04FE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01754"/>
              </p:ext>
            </p:extLst>
          </p:nvPr>
        </p:nvGraphicFramePr>
        <p:xfrm>
          <a:off x="255996" y="1468193"/>
          <a:ext cx="11004549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2546038422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1800402602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198777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92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Combine the case details with retrieved Acts, Sections, and judgments.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803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the retrieved context to Groq – openai/gpt-oss-120b.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13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an explanation of the relevance of the retrieved legal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33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 Analysis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 relevant provisions, punishment details, previous judgments, and legal reasoning.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65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68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8B45D-7662-C96A-3545-AB923A9C0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52" y="1271219"/>
            <a:ext cx="1043133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7FC8-DF38-978D-521D-AA52AB4B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6C70A9-C89F-B9E2-2898-97F92C943F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B9610-14B2-59B6-A6EC-D1F83AE8C64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25EAEF-2534-5C40-141B-8BDE513117F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7A6A264-143D-D9D1-EEC7-3EFB7708488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8595B-3D5B-7269-74CA-7077EF552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04" y="1148876"/>
            <a:ext cx="8621328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4112-3872-29E9-A78F-E9C33220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888DC1-CE4D-9D24-F2B1-476E9484C6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EECD7-8492-B1C5-EE6C-5CD82278DB8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Findings and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14DA47-7FC1-35AD-9429-27245145033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892348-FCEF-D0D2-8959-BEDF8CBB250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30471-55AD-4026-CC26-72BFC1125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040" y="1234637"/>
            <a:ext cx="7278116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just">
              <a:buNone/>
            </a:pPr>
            <a:r>
              <a:rPr lang="en-IN" b="0" dirty="0">
                <a:solidFill>
                  <a:schemeClr val="tx1"/>
                </a:solidFill>
                <a:latin typeface="Calibri (Body)"/>
              </a:rPr>
              <a:t>CASETAG integrates RAG and LLM technologies to assist in legal case analysis by retrieving relevant Acts, Sections, and previous criminal judgments. The retrieved information is processed by the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LLM to generate structured legal explanations based on the case facts. The system provides a user-friendly platform for faster, structured, and evidence-grounded legal research.</a:t>
            </a:r>
            <a:endParaRPr lang="en-US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algn="just"/>
            <a:r>
              <a:rPr lang="en-IN" sz="2400" b="0" dirty="0">
                <a:solidFill>
                  <a:schemeClr val="tx1"/>
                </a:solidFill>
              </a:rPr>
              <a:t>I sincerely thank LTM and L&amp;T </a:t>
            </a:r>
            <a:r>
              <a:rPr lang="en-IN" sz="2400" b="0" dirty="0" err="1">
                <a:solidFill>
                  <a:schemeClr val="tx1"/>
                </a:solidFill>
              </a:rPr>
              <a:t>EduTech</a:t>
            </a:r>
            <a:r>
              <a:rPr lang="en-IN" sz="2400" b="0" dirty="0">
                <a:solidFill>
                  <a:schemeClr val="tx1"/>
                </a:solidFill>
              </a:rPr>
              <a:t> for providing the infrastructure, laptop, training room, ID card, and a valuable 2-month opportunity to enhance my technical skills through practical project development.</a:t>
            </a:r>
          </a:p>
          <a:p>
            <a:pPr algn="just"/>
            <a:r>
              <a:rPr lang="en-IN" sz="2400" b="0" dirty="0">
                <a:solidFill>
                  <a:schemeClr val="tx1"/>
                </a:solidFill>
              </a:rPr>
              <a:t> I express my special gratitude to Dr. Ganesh for his continuous guidance, valuable suggestions, and support in improving my project. I also thank the Classroom Managers for their daily monitoring, coordination, and assistance in resolving issues. Finally, my special thanks to Mr. Jayakanthan, Manager – Delivery Operations, L&amp;T </a:t>
            </a:r>
            <a:r>
              <a:rPr lang="en-IN" sz="2400" b="0" dirty="0" err="1">
                <a:solidFill>
                  <a:schemeClr val="tx1"/>
                </a:solidFill>
              </a:rPr>
              <a:t>EduTech</a:t>
            </a:r>
            <a:r>
              <a:rPr lang="en-IN" sz="2400" b="0" dirty="0">
                <a:solidFill>
                  <a:schemeClr val="tx1"/>
                </a:solidFill>
              </a:rPr>
              <a:t>, for his encouragement, support, and for providing this valuable opportunity.</a:t>
            </a:r>
          </a:p>
          <a:p>
            <a:pPr marL="0" indent="0" algn="just">
              <a:buNone/>
            </a:pPr>
            <a:endParaRPr lang="en-US" sz="2000" b="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/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[1] Government of India, “India Code: The Bharatiya Nyaya Sanhita, 2023,” India Code, 2023.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[2]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KanoonGPT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“Indian Legal Documents Dataset,” Hugging Face.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[3] J. Johnson, M.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Douze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and H. Jégou, “Billion-scale similarity search with GPUs,”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IEEE Transactions on Big Data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vol. 7, no. 3, pp. 535–547, 2021.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[4] P. Lewis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et al.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“Retrieval-augmented generation for knowledge-intensive NLP tasks,” 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Advances in Neural Information Processing Systems (</a:t>
            </a:r>
            <a:r>
              <a:rPr lang="en-IN" b="0" i="1" dirty="0" err="1">
                <a:solidFill>
                  <a:schemeClr val="tx1"/>
                </a:solidFill>
                <a:latin typeface="Calibri (Body)"/>
              </a:rPr>
              <a:t>NeurIPS</a:t>
            </a:r>
            <a:r>
              <a:rPr lang="en-IN" b="0" i="1" dirty="0">
                <a:solidFill>
                  <a:schemeClr val="tx1"/>
                </a:solidFill>
                <a:latin typeface="Calibri (Body)"/>
              </a:rPr>
              <a:t>)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vol. 33, pp. 9459–9474, 2020.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[5]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“nomic-embed-text: Text Embedding Model,”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Ollama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Documentation.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[6]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, “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API Documentation,”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Groq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Documentation.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[7] S. Ramírez, “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 Documentation,” </a:t>
            </a:r>
            <a:r>
              <a:rPr lang="en-IN" b="0" dirty="0" err="1">
                <a:solidFill>
                  <a:schemeClr val="tx1"/>
                </a:solidFill>
                <a:latin typeface="Calibri (Body)"/>
              </a:rPr>
              <a:t>FastAPI</a:t>
            </a:r>
            <a:r>
              <a:rPr lang="en-IN" b="0" dirty="0">
                <a:solidFill>
                  <a:schemeClr val="tx1"/>
                </a:solidFill>
                <a:latin typeface="Calibri (Body)"/>
              </a:rPr>
              <a:t>.</a:t>
            </a:r>
          </a:p>
          <a:p>
            <a:r>
              <a:rPr lang="en-IN" b="0" dirty="0">
                <a:solidFill>
                  <a:schemeClr val="tx1"/>
                </a:solidFill>
                <a:latin typeface="Calibri (Body)"/>
              </a:rPr>
              <a:t>[8] Meta Open Source, “React Documentation,” React</a:t>
            </a:r>
          </a:p>
          <a:p>
            <a:pPr marL="0" indent="0">
              <a:lnSpc>
                <a:spcPct val="150000"/>
              </a:lnSpc>
              <a:buNone/>
            </a:pPr>
            <a:endParaRPr lang="en-US" b="0" dirty="0">
              <a:solidFill>
                <a:schemeClr val="tx1"/>
              </a:solidFill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1021</Words>
  <Application>Microsoft Office PowerPoint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32</cp:revision>
  <dcterms:created xsi:type="dcterms:W3CDTF">2024-05-13T10:33:11Z</dcterms:created>
  <dcterms:modified xsi:type="dcterms:W3CDTF">2026-10-07T09:08:45Z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